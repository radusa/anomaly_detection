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6126480"/>
            <a:ext cx="12191695" cy="54864"/>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48840"/>
            <a:ext cx="10332720" cy="1737360"/>
          </a:xfrm>
          <a:prstGeom prst="rect">
            <a:avLst/>
          </a:prstGeom>
          <a:noFill/>
        </p:spPr>
        <p:txBody>
          <a:bodyPr wrap="square" anchor="t">
            <a:spAutoFit/>
          </a:bodyPr>
          <a:lstStyle/>
          <a:p>
            <a:pPr algn="l">
              <a:lnSpc>
                <a:spcPct val="115000"/>
              </a:lnSpc>
            </a:pPr>
            <a:r>
              <a:rPr sz="3400" b="1" i="0">
                <a:solidFill>
                  <a:srgbClr val="FFFFFF"/>
                </a:solidFill>
                <a:latin typeface="Calibri"/>
              </a:rPr>
              <a:t>Analiza Paradigmelor de Anomaly Detection</a:t>
            </a:r>
          </a:p>
          <a:p>
            <a:pPr algn="l">
              <a:lnSpc>
                <a:spcPct val="115000"/>
              </a:lnSpc>
            </a:pPr>
            <a:r>
              <a:rPr sz="3400" b="1" i="0">
                <a:solidFill>
                  <a:srgbClr val="FFFFFF"/>
                </a:solidFill>
                <a:latin typeface="Calibri"/>
              </a:rPr>
              <a:t>pe Seturi de Date cu Structură Temporală Diferită</a:t>
            </a:r>
          </a:p>
        </p:txBody>
      </p:sp>
      <p:sp>
        <p:nvSpPr>
          <p:cNvPr id="4" name="TextBox 3"/>
          <p:cNvSpPr txBox="1"/>
          <p:nvPr/>
        </p:nvSpPr>
        <p:spPr>
          <a:xfrm>
            <a:off x="914400" y="3977639"/>
            <a:ext cx="8229600" cy="457200"/>
          </a:xfrm>
          <a:prstGeom prst="rect">
            <a:avLst/>
          </a:prstGeom>
          <a:noFill/>
        </p:spPr>
        <p:txBody>
          <a:bodyPr wrap="square" anchor="t">
            <a:spAutoFit/>
          </a:bodyPr>
          <a:lstStyle/>
          <a:p>
            <a:pPr algn="l">
              <a:lnSpc>
                <a:spcPct val="100000"/>
              </a:lnSpc>
            </a:pPr>
            <a:r>
              <a:rPr sz="1600" b="0" i="0">
                <a:solidFill>
                  <a:srgbClr val="C9D6E8"/>
                </a:solidFill>
                <a:latin typeface="Calibri"/>
              </a:rPr>
              <a:t>Lucrare de licență — Facultatea de Matematică și Informatică, Universitatea din București</a:t>
            </a:r>
          </a:p>
        </p:txBody>
      </p:sp>
      <p:sp>
        <p:nvSpPr>
          <p:cNvPr id="5" name="TextBox 4"/>
          <p:cNvSpPr txBox="1"/>
          <p:nvPr/>
        </p:nvSpPr>
        <p:spPr>
          <a:xfrm>
            <a:off x="914400" y="5029200"/>
            <a:ext cx="5486400" cy="822960"/>
          </a:xfrm>
          <a:prstGeom prst="rect">
            <a:avLst/>
          </a:prstGeom>
          <a:noFill/>
        </p:spPr>
        <p:txBody>
          <a:bodyPr wrap="square" anchor="t">
            <a:spAutoFit/>
          </a:bodyPr>
          <a:lstStyle/>
          <a:p>
            <a:pPr algn="l">
              <a:lnSpc>
                <a:spcPct val="130000"/>
              </a:lnSpc>
            </a:pPr>
            <a:r>
              <a:rPr sz="1600" b="0" i="0">
                <a:solidFill>
                  <a:srgbClr val="FFFFFF"/>
                </a:solidFill>
                <a:latin typeface="Calibri"/>
              </a:rPr>
              <a:t>Savin Radu-Andrei</a:t>
            </a:r>
          </a:p>
          <a:p>
            <a:pPr algn="l">
              <a:lnSpc>
                <a:spcPct val="130000"/>
              </a:lnSpc>
            </a:pPr>
            <a:r>
              <a:rPr sz="1600" b="0" i="0">
                <a:solidFill>
                  <a:srgbClr val="FFFFFF"/>
                </a:solidFill>
                <a:latin typeface="Calibri"/>
              </a:rPr>
              <a:t>Coordonator științific: Paul Irofti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INTRODUCERE</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Ce întreabă această lucrare?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02</a:t>
            </a:r>
          </a:p>
        </p:txBody>
      </p:sp>
      <p:sp>
        <p:nvSpPr>
          <p:cNvPr id="7" name="TextBox 6"/>
          <p:cNvSpPr txBox="1"/>
          <p:nvPr/>
        </p:nvSpPr>
        <p:spPr>
          <a:xfrm>
            <a:off x="502920" y="1325880"/>
            <a:ext cx="11155680" cy="685800"/>
          </a:xfrm>
          <a:prstGeom prst="rect">
            <a:avLst/>
          </a:prstGeom>
          <a:noFill/>
        </p:spPr>
        <p:txBody>
          <a:bodyPr wrap="square" anchor="t">
            <a:spAutoFit/>
          </a:bodyPr>
          <a:lstStyle/>
          <a:p>
            <a:pPr algn="l">
              <a:lnSpc>
                <a:spcPct val="120000"/>
              </a:lnSpc>
            </a:pPr>
            <a:r>
              <a:rPr sz="2000" b="1" i="0">
                <a:solidFill>
                  <a:srgbClr val="2E5C8A"/>
                </a:solidFill>
                <a:latin typeface="Calibri"/>
              </a:rPr>
              <a:t>În ce măsură modul în care un model de detecție a anomaliilor reprezintă</a:t>
            </a:r>
          </a:p>
          <a:p>
            <a:pPr algn="l">
              <a:lnSpc>
                <a:spcPct val="120000"/>
              </a:lnSpc>
            </a:pPr>
            <a:r>
              <a:rPr sz="2000" b="1" i="0">
                <a:solidFill>
                  <a:srgbClr val="2E5C8A"/>
                </a:solidFill>
                <a:latin typeface="Calibri"/>
              </a:rPr>
              <a:t>structura latentă a datelor „normale” determină tipurile de anomalii pe care le poate detecta?</a:t>
            </a:r>
          </a:p>
        </p:txBody>
      </p:sp>
      <p:sp>
        <p:nvSpPr>
          <p:cNvPr id="8" name="TextBox 7"/>
          <p:cNvSpPr txBox="1"/>
          <p:nvPr/>
        </p:nvSpPr>
        <p:spPr>
          <a:xfrm>
            <a:off x="502920" y="2286000"/>
            <a:ext cx="11155680" cy="3931920"/>
          </a:xfrm>
          <a:prstGeom prst="rect">
            <a:avLst/>
          </a:prstGeom>
          <a:noFill/>
        </p:spPr>
        <p:txBody>
          <a:bodyPr wrap="square">
            <a:spAutoFit/>
          </a:bodyPr>
          <a:lstStyle/>
          <a:p>
            <a:pPr>
              <a:lnSpc>
                <a:spcPct val="108000"/>
              </a:lnSpc>
              <a:spcAft>
                <a:spcPts val="1600"/>
              </a:spcAft>
            </a:pPr>
            <a:r>
              <a:rPr sz="1800" b="1">
                <a:solidFill>
                  <a:srgbClr val="E07A2C"/>
                </a:solidFill>
                <a:latin typeface="Calibri"/>
              </a:rPr>
              <a:t>▸  </a:t>
            </a:r>
            <a:r>
              <a:rPr sz="1800" b="1">
                <a:solidFill>
                  <a:srgbClr val="22272E"/>
                </a:solidFill>
                <a:latin typeface="Calibri"/>
              </a:rPr>
              <a:t>Trei componente principale implementate</a:t>
            </a:r>
          </a:p>
          <a:p>
            <a:pPr lvl="1">
              <a:lnSpc>
                <a:spcPct val="108000"/>
              </a:lnSpc>
              <a:spcAft>
                <a:spcPts val="1600"/>
              </a:spcAft>
            </a:pPr>
            <a:r>
              <a:rPr sz="1600" b="1">
                <a:solidFill>
                  <a:srgbClr val="5A6370"/>
                </a:solidFill>
                <a:latin typeface="Calibri"/>
              </a:rPr>
              <a:t>–  </a:t>
            </a:r>
            <a:r>
              <a:rPr sz="1600" b="0">
                <a:solidFill>
                  <a:srgbClr val="22272E"/>
                </a:solidFill>
                <a:latin typeface="Calibri"/>
              </a:rPr>
              <a:t>Trei pipeline-uri standardizate de preprocesare / antrenare / evaluare</a:t>
            </a:r>
          </a:p>
          <a:p>
            <a:pPr lvl="1">
              <a:lnSpc>
                <a:spcPct val="108000"/>
              </a:lnSpc>
              <a:spcAft>
                <a:spcPts val="1600"/>
              </a:spcAft>
            </a:pPr>
            <a:r>
              <a:rPr sz="1600" b="1">
                <a:solidFill>
                  <a:srgbClr val="5A6370"/>
                </a:solidFill>
                <a:latin typeface="Calibri"/>
              </a:rPr>
              <a:t>–  </a:t>
            </a:r>
            <a:r>
              <a:rPr sz="1600" b="0">
                <a:solidFill>
                  <a:srgbClr val="22272E"/>
                </a:solidFill>
                <a:latin typeface="Calibri"/>
              </a:rPr>
              <a:t>Analiză sistematică a rezultatelor, pe fiecare set de date</a:t>
            </a:r>
          </a:p>
          <a:p>
            <a:pPr lvl="1">
              <a:lnSpc>
                <a:spcPct val="108000"/>
              </a:lnSpc>
              <a:spcAft>
                <a:spcPts val="1600"/>
              </a:spcAft>
            </a:pPr>
            <a:r>
              <a:rPr sz="1600" b="1">
                <a:solidFill>
                  <a:srgbClr val="5A6370"/>
                </a:solidFill>
                <a:latin typeface="Calibri"/>
              </a:rPr>
              <a:t>–  </a:t>
            </a:r>
            <a:r>
              <a:rPr sz="1600" b="0">
                <a:solidFill>
                  <a:srgbClr val="22272E"/>
                </a:solidFill>
                <a:latin typeface="Calibri"/>
              </a:rPr>
              <a:t>Studii de caz de explicabilitate, ce testează direct ipotezele formulate</a:t>
            </a:r>
          </a:p>
        </p:txBody>
      </p:sp>
      <p:sp>
        <p:nvSpPr>
          <p:cNvPr id="9" name="TextBox 8"/>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Capitolul 1 — Introducere și §2.1 Proiectarea și Abordarea Cercetării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INTRODUCERE</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Design experimental: două axe simultane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03</a:t>
            </a:r>
          </a:p>
        </p:txBody>
      </p:sp>
      <p:sp>
        <p:nvSpPr>
          <p:cNvPr id="7" name="TextBox 6"/>
          <p:cNvSpPr txBox="1"/>
          <p:nvPr/>
        </p:nvSpPr>
        <p:spPr>
          <a:xfrm>
            <a:off x="502920" y="1280160"/>
            <a:ext cx="11155680" cy="457200"/>
          </a:xfrm>
          <a:prstGeom prst="rect">
            <a:avLst/>
          </a:prstGeom>
          <a:noFill/>
        </p:spPr>
        <p:txBody>
          <a:bodyPr wrap="square" anchor="t">
            <a:spAutoFit/>
          </a:bodyPr>
          <a:lstStyle/>
          <a:p>
            <a:pPr algn="l">
              <a:lnSpc>
                <a:spcPct val="100000"/>
              </a:lnSpc>
            </a:pPr>
            <a:r>
              <a:rPr sz="1500" b="0" i="1">
                <a:solidFill>
                  <a:srgbClr val="5A6370"/>
                </a:solidFill>
                <a:latin typeface="Calibri"/>
              </a:rPr>
              <a:t>Fiecare paradigmă este rulată pe fiecare punct al spectrului de structură temporală → rezultatul e atribuit paradigmei, nu setului de date.</a:t>
            </a:r>
          </a:p>
        </p:txBody>
      </p:sp>
      <p:sp>
        <p:nvSpPr>
          <p:cNvPr id="8" name="Rectangle 7"/>
          <p:cNvSpPr/>
          <p:nvPr/>
        </p:nvSpPr>
        <p:spPr>
          <a:xfrm>
            <a:off x="502920" y="1920240"/>
            <a:ext cx="5394960" cy="457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20240"/>
            <a:ext cx="5394960" cy="457200"/>
          </a:xfrm>
          <a:prstGeom prst="rect">
            <a:avLst/>
          </a:prstGeom>
          <a:noFill/>
        </p:spPr>
        <p:txBody>
          <a:bodyPr wrap="square" anchor="ctr">
            <a:spAutoFit/>
          </a:bodyPr>
          <a:lstStyle/>
          <a:p>
            <a:pPr algn="ctr">
              <a:lnSpc>
                <a:spcPct val="100000"/>
              </a:lnSpc>
            </a:pPr>
            <a:r>
              <a:rPr sz="1600" b="1" i="0">
                <a:solidFill>
                  <a:srgbClr val="FFFFFF"/>
                </a:solidFill>
                <a:latin typeface="Calibri"/>
              </a:rPr>
              <a:t>AXA 1 — Paradigma modelului</a:t>
            </a:r>
          </a:p>
        </p:txBody>
      </p:sp>
      <p:sp>
        <p:nvSpPr>
          <p:cNvPr id="10" name="Rectangle 9"/>
          <p:cNvSpPr/>
          <p:nvPr/>
        </p:nvSpPr>
        <p:spPr>
          <a:xfrm>
            <a:off x="502920" y="2514600"/>
            <a:ext cx="5394960" cy="81076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920" y="2565400"/>
            <a:ext cx="5140960" cy="274320"/>
          </a:xfrm>
          <a:prstGeom prst="rect">
            <a:avLst/>
          </a:prstGeom>
          <a:noFill/>
        </p:spPr>
        <p:txBody>
          <a:bodyPr wrap="square" anchor="t">
            <a:spAutoFit/>
          </a:bodyPr>
          <a:lstStyle/>
          <a:p>
            <a:pPr algn="l">
              <a:lnSpc>
                <a:spcPct val="100000"/>
              </a:lnSpc>
            </a:pPr>
            <a:r>
              <a:rPr sz="1450" b="1" i="0">
                <a:solidFill>
                  <a:srgbClr val="E07A2C"/>
                </a:solidFill>
                <a:latin typeface="Calibri"/>
              </a:rPr>
              <a:t>Graniță</a:t>
            </a:r>
          </a:p>
        </p:txBody>
      </p:sp>
      <p:sp>
        <p:nvSpPr>
          <p:cNvPr id="12" name="TextBox 11"/>
          <p:cNvSpPr txBox="1"/>
          <p:nvPr/>
        </p:nvSpPr>
        <p:spPr>
          <a:xfrm>
            <a:off x="629920" y="2870200"/>
            <a:ext cx="5140960" cy="274320"/>
          </a:xfrm>
          <a:prstGeom prst="rect">
            <a:avLst/>
          </a:prstGeom>
          <a:noFill/>
        </p:spPr>
        <p:txBody>
          <a:bodyPr wrap="square" anchor="t">
            <a:spAutoFit/>
          </a:bodyPr>
          <a:lstStyle/>
          <a:p>
            <a:pPr algn="l">
              <a:lnSpc>
                <a:spcPct val="100000"/>
              </a:lnSpc>
            </a:pPr>
            <a:r>
              <a:rPr sz="1250" b="1" i="0">
                <a:solidFill>
                  <a:srgbClr val="1B2A4A"/>
                </a:solidFill>
                <a:latin typeface="Calibri"/>
              </a:rPr>
              <a:t>One-Class SVM</a:t>
            </a:r>
          </a:p>
        </p:txBody>
      </p:sp>
      <p:sp>
        <p:nvSpPr>
          <p:cNvPr id="13" name="TextBox 12"/>
          <p:cNvSpPr txBox="1"/>
          <p:nvPr/>
        </p:nvSpPr>
        <p:spPr>
          <a:xfrm>
            <a:off x="629920" y="3149600"/>
            <a:ext cx="5140960" cy="274320"/>
          </a:xfrm>
          <a:prstGeom prst="rect">
            <a:avLst/>
          </a:prstGeom>
          <a:noFill/>
        </p:spPr>
        <p:txBody>
          <a:bodyPr wrap="square" anchor="t">
            <a:spAutoFit/>
          </a:bodyPr>
          <a:lstStyle/>
          <a:p>
            <a:pPr algn="l">
              <a:lnSpc>
                <a:spcPct val="100000"/>
              </a:lnSpc>
            </a:pPr>
            <a:r>
              <a:rPr sz="1100" b="0" i="0">
                <a:solidFill>
                  <a:srgbClr val="5A6370"/>
                </a:solidFill>
                <a:latin typeface="Calibri"/>
              </a:rPr>
              <a:t>granită într-un spațiu indus de kernel</a:t>
            </a:r>
          </a:p>
        </p:txBody>
      </p:sp>
      <p:sp>
        <p:nvSpPr>
          <p:cNvPr id="14" name="Rectangle 13"/>
          <p:cNvSpPr/>
          <p:nvPr/>
        </p:nvSpPr>
        <p:spPr>
          <a:xfrm>
            <a:off x="502920" y="3401568"/>
            <a:ext cx="5394960" cy="810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920" y="3452368"/>
            <a:ext cx="5140960" cy="274320"/>
          </a:xfrm>
          <a:prstGeom prst="rect">
            <a:avLst/>
          </a:prstGeom>
          <a:noFill/>
        </p:spPr>
        <p:txBody>
          <a:bodyPr wrap="square" anchor="t">
            <a:spAutoFit/>
          </a:bodyPr>
          <a:lstStyle/>
          <a:p>
            <a:pPr algn="l">
              <a:lnSpc>
                <a:spcPct val="100000"/>
              </a:lnSpc>
            </a:pPr>
            <a:r>
              <a:rPr sz="1450" b="1" i="0">
                <a:solidFill>
                  <a:srgbClr val="E07A2C"/>
                </a:solidFill>
                <a:latin typeface="Calibri"/>
              </a:rPr>
              <a:t>Partiționare</a:t>
            </a:r>
          </a:p>
        </p:txBody>
      </p:sp>
      <p:sp>
        <p:nvSpPr>
          <p:cNvPr id="16" name="TextBox 15"/>
          <p:cNvSpPr txBox="1"/>
          <p:nvPr/>
        </p:nvSpPr>
        <p:spPr>
          <a:xfrm>
            <a:off x="629920" y="3757168"/>
            <a:ext cx="5140960" cy="274320"/>
          </a:xfrm>
          <a:prstGeom prst="rect">
            <a:avLst/>
          </a:prstGeom>
          <a:noFill/>
        </p:spPr>
        <p:txBody>
          <a:bodyPr wrap="square" anchor="t">
            <a:spAutoFit/>
          </a:bodyPr>
          <a:lstStyle/>
          <a:p>
            <a:pPr algn="l">
              <a:lnSpc>
                <a:spcPct val="100000"/>
              </a:lnSpc>
            </a:pPr>
            <a:r>
              <a:rPr sz="1250" b="1" i="0">
                <a:solidFill>
                  <a:srgbClr val="1B2A4A"/>
                </a:solidFill>
                <a:latin typeface="Calibri"/>
              </a:rPr>
              <a:t>Isolation Forest</a:t>
            </a:r>
          </a:p>
        </p:txBody>
      </p:sp>
      <p:sp>
        <p:nvSpPr>
          <p:cNvPr id="17" name="TextBox 16"/>
          <p:cNvSpPr txBox="1"/>
          <p:nvPr/>
        </p:nvSpPr>
        <p:spPr>
          <a:xfrm>
            <a:off x="629920" y="4036568"/>
            <a:ext cx="5140960" cy="274320"/>
          </a:xfrm>
          <a:prstGeom prst="rect">
            <a:avLst/>
          </a:prstGeom>
          <a:noFill/>
        </p:spPr>
        <p:txBody>
          <a:bodyPr wrap="square" anchor="t">
            <a:spAutoFit/>
          </a:bodyPr>
          <a:lstStyle/>
          <a:p>
            <a:pPr algn="l">
              <a:lnSpc>
                <a:spcPct val="100000"/>
              </a:lnSpc>
            </a:pPr>
            <a:r>
              <a:rPr sz="1100" b="0" i="0">
                <a:solidFill>
                  <a:srgbClr val="5A6370"/>
                </a:solidFill>
                <a:latin typeface="Calibri"/>
              </a:rPr>
              <a:t>împarțire aleatoare recursivă a spațiului</a:t>
            </a:r>
          </a:p>
        </p:txBody>
      </p:sp>
      <p:sp>
        <p:nvSpPr>
          <p:cNvPr id="18" name="Rectangle 17"/>
          <p:cNvSpPr/>
          <p:nvPr/>
        </p:nvSpPr>
        <p:spPr>
          <a:xfrm>
            <a:off x="502920" y="4288536"/>
            <a:ext cx="5394960" cy="81076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920" y="4339336"/>
            <a:ext cx="5140960" cy="274320"/>
          </a:xfrm>
          <a:prstGeom prst="rect">
            <a:avLst/>
          </a:prstGeom>
          <a:noFill/>
        </p:spPr>
        <p:txBody>
          <a:bodyPr wrap="square" anchor="t">
            <a:spAutoFit/>
          </a:bodyPr>
          <a:lstStyle/>
          <a:p>
            <a:pPr algn="l">
              <a:lnSpc>
                <a:spcPct val="100000"/>
              </a:lnSpc>
            </a:pPr>
            <a:r>
              <a:rPr sz="1450" b="1" i="0">
                <a:solidFill>
                  <a:srgbClr val="E07A2C"/>
                </a:solidFill>
                <a:latin typeface="Calibri"/>
              </a:rPr>
              <a:t>Bottleneck de compresie</a:t>
            </a:r>
          </a:p>
        </p:txBody>
      </p:sp>
      <p:sp>
        <p:nvSpPr>
          <p:cNvPr id="20" name="TextBox 19"/>
          <p:cNvSpPr txBox="1"/>
          <p:nvPr/>
        </p:nvSpPr>
        <p:spPr>
          <a:xfrm>
            <a:off x="629920" y="4644136"/>
            <a:ext cx="5140960" cy="274320"/>
          </a:xfrm>
          <a:prstGeom prst="rect">
            <a:avLst/>
          </a:prstGeom>
          <a:noFill/>
        </p:spPr>
        <p:txBody>
          <a:bodyPr wrap="square" anchor="t">
            <a:spAutoFit/>
          </a:bodyPr>
          <a:lstStyle/>
          <a:p>
            <a:pPr algn="l">
              <a:lnSpc>
                <a:spcPct val="100000"/>
              </a:lnSpc>
            </a:pPr>
            <a:r>
              <a:rPr sz="1250" b="1" i="0">
                <a:solidFill>
                  <a:srgbClr val="1B2A4A"/>
                </a:solidFill>
                <a:latin typeface="Calibri"/>
              </a:rPr>
              <a:t>AE (MLP, LSTM, Transformer)</a:t>
            </a:r>
          </a:p>
        </p:txBody>
      </p:sp>
      <p:sp>
        <p:nvSpPr>
          <p:cNvPr id="21" name="TextBox 20"/>
          <p:cNvSpPr txBox="1"/>
          <p:nvPr/>
        </p:nvSpPr>
        <p:spPr>
          <a:xfrm>
            <a:off x="629920" y="4923536"/>
            <a:ext cx="5140960" cy="274320"/>
          </a:xfrm>
          <a:prstGeom prst="rect">
            <a:avLst/>
          </a:prstGeom>
          <a:noFill/>
        </p:spPr>
        <p:txBody>
          <a:bodyPr wrap="square" anchor="t">
            <a:spAutoFit/>
          </a:bodyPr>
          <a:lstStyle/>
          <a:p>
            <a:pPr algn="l">
              <a:lnSpc>
                <a:spcPct val="100000"/>
              </a:lnSpc>
            </a:pPr>
            <a:r>
              <a:rPr sz="1100" b="0" i="0">
                <a:solidFill>
                  <a:srgbClr val="5A6370"/>
                </a:solidFill>
                <a:latin typeface="Calibri"/>
              </a:rPr>
              <a:t>reține doar structura dominantă benignă</a:t>
            </a:r>
          </a:p>
        </p:txBody>
      </p:sp>
      <p:sp>
        <p:nvSpPr>
          <p:cNvPr id="22" name="Rectangle 21"/>
          <p:cNvSpPr/>
          <p:nvPr/>
        </p:nvSpPr>
        <p:spPr>
          <a:xfrm>
            <a:off x="502920" y="5175504"/>
            <a:ext cx="5394960" cy="810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920" y="5226304"/>
            <a:ext cx="5140960" cy="274320"/>
          </a:xfrm>
          <a:prstGeom prst="rect">
            <a:avLst/>
          </a:prstGeom>
          <a:noFill/>
        </p:spPr>
        <p:txBody>
          <a:bodyPr wrap="square" anchor="t">
            <a:spAutoFit/>
          </a:bodyPr>
          <a:lstStyle/>
          <a:p>
            <a:pPr algn="l">
              <a:lnSpc>
                <a:spcPct val="100000"/>
              </a:lnSpc>
            </a:pPr>
            <a:r>
              <a:rPr sz="1450" b="1" i="0">
                <a:solidFill>
                  <a:srgbClr val="E07A2C"/>
                </a:solidFill>
                <a:latin typeface="Calibri"/>
              </a:rPr>
              <a:t>Obiectiv predictiv</a:t>
            </a:r>
          </a:p>
        </p:txBody>
      </p:sp>
      <p:sp>
        <p:nvSpPr>
          <p:cNvPr id="24" name="TextBox 23"/>
          <p:cNvSpPr txBox="1"/>
          <p:nvPr/>
        </p:nvSpPr>
        <p:spPr>
          <a:xfrm>
            <a:off x="629920" y="5531104"/>
            <a:ext cx="5140960" cy="274320"/>
          </a:xfrm>
          <a:prstGeom prst="rect">
            <a:avLst/>
          </a:prstGeom>
          <a:noFill/>
        </p:spPr>
        <p:txBody>
          <a:bodyPr wrap="square" anchor="t">
            <a:spAutoFit/>
          </a:bodyPr>
          <a:lstStyle/>
          <a:p>
            <a:pPr algn="l">
              <a:lnSpc>
                <a:spcPct val="100000"/>
              </a:lnSpc>
            </a:pPr>
            <a:r>
              <a:rPr sz="1250" b="1" i="0">
                <a:solidFill>
                  <a:srgbClr val="1B2A4A"/>
                </a:solidFill>
                <a:latin typeface="Calibri"/>
              </a:rPr>
              <a:t>LSTM Predictiv, Causal Transformer</a:t>
            </a:r>
          </a:p>
        </p:txBody>
      </p:sp>
      <p:sp>
        <p:nvSpPr>
          <p:cNvPr id="25" name="TextBox 24"/>
          <p:cNvSpPr txBox="1"/>
          <p:nvPr/>
        </p:nvSpPr>
        <p:spPr>
          <a:xfrm>
            <a:off x="629920" y="5810504"/>
            <a:ext cx="5140960" cy="274320"/>
          </a:xfrm>
          <a:prstGeom prst="rect">
            <a:avLst/>
          </a:prstGeom>
          <a:noFill/>
        </p:spPr>
        <p:txBody>
          <a:bodyPr wrap="square" anchor="t">
            <a:spAutoFit/>
          </a:bodyPr>
          <a:lstStyle/>
          <a:p>
            <a:pPr algn="l">
              <a:lnSpc>
                <a:spcPct val="100000"/>
              </a:lnSpc>
            </a:pPr>
            <a:r>
              <a:rPr sz="1100" b="0" i="0">
                <a:solidFill>
                  <a:srgbClr val="5A6370"/>
                </a:solidFill>
                <a:latin typeface="Calibri"/>
              </a:rPr>
              <a:t>învață să prezică pasul următor</a:t>
            </a:r>
          </a:p>
        </p:txBody>
      </p:sp>
      <p:sp>
        <p:nvSpPr>
          <p:cNvPr id="26" name="Rectangle 25"/>
          <p:cNvSpPr/>
          <p:nvPr/>
        </p:nvSpPr>
        <p:spPr>
          <a:xfrm>
            <a:off x="6263640" y="1920240"/>
            <a:ext cx="5394960" cy="457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1920240"/>
            <a:ext cx="5394960" cy="457200"/>
          </a:xfrm>
          <a:prstGeom prst="rect">
            <a:avLst/>
          </a:prstGeom>
          <a:noFill/>
        </p:spPr>
        <p:txBody>
          <a:bodyPr wrap="square" anchor="ctr">
            <a:spAutoFit/>
          </a:bodyPr>
          <a:lstStyle/>
          <a:p>
            <a:pPr algn="ctr">
              <a:lnSpc>
                <a:spcPct val="100000"/>
              </a:lnSpc>
            </a:pPr>
            <a:r>
              <a:rPr sz="1600" b="1" i="0">
                <a:solidFill>
                  <a:srgbClr val="FFFFFF"/>
                </a:solidFill>
                <a:latin typeface="Calibri"/>
              </a:rPr>
              <a:t>AXA 2 — Structura temporală a datelor</a:t>
            </a:r>
          </a:p>
        </p:txBody>
      </p:sp>
      <p:sp>
        <p:nvSpPr>
          <p:cNvPr id="28" name="Rectangle 27"/>
          <p:cNvSpPr/>
          <p:nvPr/>
        </p:nvSpPr>
        <p:spPr>
          <a:xfrm>
            <a:off x="6263640" y="2514600"/>
            <a:ext cx="5394960" cy="10688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0640" y="2616200"/>
            <a:ext cx="5140960" cy="320040"/>
          </a:xfrm>
          <a:prstGeom prst="rect">
            <a:avLst/>
          </a:prstGeom>
          <a:noFill/>
        </p:spPr>
        <p:txBody>
          <a:bodyPr wrap="square" anchor="t">
            <a:spAutoFit/>
          </a:bodyPr>
          <a:lstStyle/>
          <a:p>
            <a:pPr algn="l">
              <a:lnSpc>
                <a:spcPct val="100000"/>
              </a:lnSpc>
            </a:pPr>
            <a:r>
              <a:rPr sz="1550" b="1" i="0">
                <a:solidFill>
                  <a:srgbClr val="2E5C8A"/>
                </a:solidFill>
                <a:latin typeface="Calibri"/>
              </a:rPr>
              <a:t>Credit Card Fraud</a:t>
            </a:r>
          </a:p>
        </p:txBody>
      </p:sp>
      <p:sp>
        <p:nvSpPr>
          <p:cNvPr id="30" name="TextBox 29"/>
          <p:cNvSpPr txBox="1"/>
          <p:nvPr/>
        </p:nvSpPr>
        <p:spPr>
          <a:xfrm>
            <a:off x="6390640" y="3022600"/>
            <a:ext cx="5140960" cy="548640"/>
          </a:xfrm>
          <a:prstGeom prst="rect">
            <a:avLst/>
          </a:prstGeom>
          <a:noFill/>
        </p:spPr>
        <p:txBody>
          <a:bodyPr wrap="square" anchor="t">
            <a:spAutoFit/>
          </a:bodyPr>
          <a:lstStyle/>
          <a:p>
            <a:pPr algn="l">
              <a:lnSpc>
                <a:spcPct val="100000"/>
              </a:lnSpc>
            </a:pPr>
            <a:r>
              <a:rPr sz="1250" b="0" i="0">
                <a:solidFill>
                  <a:srgbClr val="22272E"/>
                </a:solidFill>
                <a:latin typeface="Calibri"/>
              </a:rPr>
              <a:t>tabelar, fără ordine temporală reală — caz de control</a:t>
            </a:r>
          </a:p>
        </p:txBody>
      </p:sp>
      <p:sp>
        <p:nvSpPr>
          <p:cNvPr id="31" name="Rectangle 30"/>
          <p:cNvSpPr/>
          <p:nvPr/>
        </p:nvSpPr>
        <p:spPr>
          <a:xfrm>
            <a:off x="6263640" y="3685032"/>
            <a:ext cx="5394960" cy="1068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0640" y="3786632"/>
            <a:ext cx="5140960" cy="320040"/>
          </a:xfrm>
          <a:prstGeom prst="rect">
            <a:avLst/>
          </a:prstGeom>
          <a:noFill/>
        </p:spPr>
        <p:txBody>
          <a:bodyPr wrap="square" anchor="t">
            <a:spAutoFit/>
          </a:bodyPr>
          <a:lstStyle/>
          <a:p>
            <a:pPr algn="l">
              <a:lnSpc>
                <a:spcPct val="100000"/>
              </a:lnSpc>
            </a:pPr>
            <a:r>
              <a:rPr sz="1550" b="1" i="0">
                <a:solidFill>
                  <a:srgbClr val="2E5C8A"/>
                </a:solidFill>
                <a:latin typeface="Calibri"/>
              </a:rPr>
              <a:t>Yahoo Webscope S5</a:t>
            </a:r>
          </a:p>
        </p:txBody>
      </p:sp>
      <p:sp>
        <p:nvSpPr>
          <p:cNvPr id="33" name="TextBox 32"/>
          <p:cNvSpPr txBox="1"/>
          <p:nvPr/>
        </p:nvSpPr>
        <p:spPr>
          <a:xfrm>
            <a:off x="6390640" y="4193032"/>
            <a:ext cx="5140960" cy="548640"/>
          </a:xfrm>
          <a:prstGeom prst="rect">
            <a:avLst/>
          </a:prstGeom>
          <a:noFill/>
        </p:spPr>
        <p:txBody>
          <a:bodyPr wrap="square" anchor="t">
            <a:spAutoFit/>
          </a:bodyPr>
          <a:lstStyle/>
          <a:p>
            <a:pPr algn="l">
              <a:lnSpc>
                <a:spcPct val="100000"/>
              </a:lnSpc>
            </a:pPr>
            <a:r>
              <a:rPr sz="1250" b="0" i="0">
                <a:solidFill>
                  <a:srgbClr val="22272E"/>
                </a:solidFill>
                <a:latin typeface="Calibri"/>
              </a:rPr>
              <a:t>serii de timp cu adevărat secvențiale</a:t>
            </a:r>
          </a:p>
        </p:txBody>
      </p:sp>
      <p:sp>
        <p:nvSpPr>
          <p:cNvPr id="34" name="Rectangle 33"/>
          <p:cNvSpPr/>
          <p:nvPr/>
        </p:nvSpPr>
        <p:spPr>
          <a:xfrm>
            <a:off x="6263640" y="4855464"/>
            <a:ext cx="5394960" cy="10688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0640" y="4957064"/>
            <a:ext cx="5140960" cy="320040"/>
          </a:xfrm>
          <a:prstGeom prst="rect">
            <a:avLst/>
          </a:prstGeom>
          <a:noFill/>
        </p:spPr>
        <p:txBody>
          <a:bodyPr wrap="square" anchor="t">
            <a:spAutoFit/>
          </a:bodyPr>
          <a:lstStyle/>
          <a:p>
            <a:pPr algn="l">
              <a:lnSpc>
                <a:spcPct val="100000"/>
              </a:lnSpc>
            </a:pPr>
            <a:r>
              <a:rPr sz="1550" b="1" i="0">
                <a:solidFill>
                  <a:srgbClr val="2E5C8A"/>
                </a:solidFill>
                <a:latin typeface="Calibri"/>
              </a:rPr>
              <a:t>CIC-IDS2017</a:t>
            </a:r>
          </a:p>
        </p:txBody>
      </p:sp>
      <p:sp>
        <p:nvSpPr>
          <p:cNvPr id="36" name="TextBox 35"/>
          <p:cNvSpPr txBox="1"/>
          <p:nvPr/>
        </p:nvSpPr>
        <p:spPr>
          <a:xfrm>
            <a:off x="6390640" y="5363464"/>
            <a:ext cx="5140960" cy="548640"/>
          </a:xfrm>
          <a:prstGeom prst="rect">
            <a:avLst/>
          </a:prstGeom>
          <a:noFill/>
        </p:spPr>
        <p:txBody>
          <a:bodyPr wrap="square" anchor="t">
            <a:spAutoFit/>
          </a:bodyPr>
          <a:lstStyle/>
          <a:p>
            <a:pPr algn="l">
              <a:lnSpc>
                <a:spcPct val="100000"/>
              </a:lnSpc>
            </a:pPr>
            <a:r>
              <a:rPr sz="1250" b="0" i="0">
                <a:solidFill>
                  <a:srgbClr val="22272E"/>
                </a:solidFill>
                <a:latin typeface="Calibri"/>
              </a:rPr>
              <a:t>flux de rețea — admite vedere plată și temporală</a:t>
            </a:r>
          </a:p>
        </p:txBody>
      </p:sp>
      <p:sp>
        <p:nvSpPr>
          <p:cNvPr id="37" name="TextBox 36"/>
          <p:cNvSpPr txBox="1"/>
          <p:nvPr/>
        </p:nvSpPr>
        <p:spPr>
          <a:xfrm>
            <a:off x="6390640" y="6025896"/>
            <a:ext cx="5140960" cy="777240"/>
          </a:xfrm>
          <a:prstGeom prst="rect">
            <a:avLst/>
          </a:prstGeom>
          <a:noFill/>
        </p:spPr>
        <p:txBody>
          <a:bodyPr wrap="square" anchor="t">
            <a:spAutoFit/>
          </a:bodyPr>
          <a:lstStyle/>
          <a:p>
            <a:pPr algn="l">
              <a:lnSpc>
                <a:spcPct val="100000"/>
              </a:lnSpc>
            </a:pPr>
            <a:r>
              <a:rPr sz="1200" b="0" i="1">
                <a:solidFill>
                  <a:srgbClr val="5A6370"/>
                </a:solidFill>
                <a:latin typeface="Calibri"/>
              </a:rPr>
              <a:t>Spectru: fără ordine → secvențial → hibrid (plat + temporal)</a:t>
            </a:r>
          </a:p>
        </p:txBody>
      </p:sp>
      <p:sp>
        <p:nvSpPr>
          <p:cNvPr id="38" name="TextBox 37"/>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§2.1 Proiectarea și Abordarea Cercetării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PRELIMINARII</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Modelele: 7 algoritmi, 4 paradigme structurale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04</a:t>
            </a:r>
          </a:p>
        </p:txBody>
      </p:sp>
      <p:graphicFrame>
        <p:nvGraphicFramePr>
          <p:cNvPr id="7" name="Table 6"/>
          <p:cNvGraphicFramePr>
            <a:graphicFrameLocks noGrp="1"/>
          </p:cNvGraphicFramePr>
          <p:nvPr/>
        </p:nvGraphicFramePr>
        <p:xfrm>
          <a:off x="502920" y="1325880"/>
          <a:ext cx="11201399" cy="4133080"/>
        </p:xfrm>
        <a:graphic>
          <a:graphicData uri="http://schemas.openxmlformats.org/drawingml/2006/table">
            <a:tbl>
              <a:tblPr firstRow="0" bandRow="0">
                <a:tableStyleId>{5C22544A-7EE6-4342-B048-85BDC9FD1C3A}</a:tableStyleId>
              </a:tblPr>
              <a:tblGrid>
                <a:gridCol w="2392532"/>
                <a:gridCol w="2827537"/>
                <a:gridCol w="5981330"/>
              </a:tblGrid>
              <a:tr h="516635">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Paradigmă</a:t>
                      </a:r>
                    </a:p>
                  </a:txBody>
                  <a:tcPr anchor="ctr">
                    <a:solidFill>
                      <a:srgbClr val="1B2A4A"/>
                    </a:solidFill>
                  </a:tcPr>
                </a:tc>
                <a:tc>
                  <a:txBody>
                    <a:bodyPr/>
                    <a:lstStyle/>
                    <a:p>
                      <a:pPr algn="ctr"/>
                      <a:r>
                        <a:rPr sz="1300" b="1">
                          <a:solidFill>
                            <a:srgbClr val="FFFFFF"/>
                          </a:solidFill>
                        </a:rPr>
                        <a:t>Idee de bază</a:t>
                      </a:r>
                    </a:p>
                  </a:txBody>
                  <a:tcPr anchor="ctr">
                    <a:solidFill>
                      <a:srgbClr val="1B2A4A"/>
                    </a:solidFill>
                  </a:tcPr>
                </a:tc>
              </a:tr>
              <a:tr h="516635">
                <a:tc>
                  <a:txBody>
                    <a:bodyPr/>
                    <a:lstStyle/>
                    <a:p>
                      <a:pPr algn="l"/>
                      <a:r>
                        <a:rPr sz="1250">
                          <a:solidFill>
                            <a:srgbClr val="22272E"/>
                          </a:solidFill>
                        </a:rPr>
                        <a:t>One-Class SVM</a:t>
                      </a:r>
                    </a:p>
                  </a:txBody>
                  <a:tcPr anchor="ctr">
                    <a:solidFill>
                      <a:srgbClr val="FFFFFF"/>
                    </a:solidFill>
                  </a:tcPr>
                </a:tc>
                <a:tc>
                  <a:txBody>
                    <a:bodyPr/>
                    <a:lstStyle/>
                    <a:p>
                      <a:pPr algn="ctr"/>
                      <a:r>
                        <a:rPr sz="1250">
                          <a:solidFill>
                            <a:srgbClr val="22272E"/>
                          </a:solidFill>
                        </a:rPr>
                        <a:t>Graniță</a:t>
                      </a:r>
                    </a:p>
                  </a:txBody>
                  <a:tcPr anchor="ctr">
                    <a:solidFill>
                      <a:srgbClr val="FFFFFF"/>
                    </a:solidFill>
                  </a:tcPr>
                </a:tc>
                <a:tc>
                  <a:txBody>
                    <a:bodyPr/>
                    <a:lstStyle/>
                    <a:p>
                      <a:pPr algn="ctr"/>
                      <a:r>
                        <a:rPr sz="1250">
                          <a:solidFill>
                            <a:srgbClr val="22272E"/>
                          </a:solidFill>
                        </a:rPr>
                        <a:t>învață o frontieră în jurul datelor normale într-un spațiu indus de kernel RBF</a:t>
                      </a:r>
                    </a:p>
                  </a:txBody>
                  <a:tcPr anchor="ctr">
                    <a:solidFill>
                      <a:srgbClr val="FFFFFF"/>
                    </a:solidFill>
                  </a:tcPr>
                </a:tc>
              </a:tr>
              <a:tr h="516635">
                <a:tc>
                  <a:txBody>
                    <a:bodyPr/>
                    <a:lstStyle/>
                    <a:p>
                      <a:pPr algn="l"/>
                      <a:r>
                        <a:rPr sz="1250">
                          <a:solidFill>
                            <a:srgbClr val="22272E"/>
                          </a:solidFill>
                        </a:rPr>
                        <a:t>Isolation Forest</a:t>
                      </a:r>
                    </a:p>
                  </a:txBody>
                  <a:tcPr anchor="ctr">
                    <a:solidFill>
                      <a:srgbClr val="F4F6F9"/>
                    </a:solidFill>
                  </a:tcPr>
                </a:tc>
                <a:tc>
                  <a:txBody>
                    <a:bodyPr/>
                    <a:lstStyle/>
                    <a:p>
                      <a:pPr algn="ctr"/>
                      <a:r>
                        <a:rPr sz="1250">
                          <a:solidFill>
                            <a:srgbClr val="22272E"/>
                          </a:solidFill>
                        </a:rPr>
                        <a:t>Partiționare</a:t>
                      </a:r>
                    </a:p>
                  </a:txBody>
                  <a:tcPr anchor="ctr">
                    <a:solidFill>
                      <a:srgbClr val="F4F6F9"/>
                    </a:solidFill>
                  </a:tcPr>
                </a:tc>
                <a:tc>
                  <a:txBody>
                    <a:bodyPr/>
                    <a:lstStyle/>
                    <a:p>
                      <a:pPr algn="ctr"/>
                      <a:r>
                        <a:rPr sz="1250">
                          <a:solidFill>
                            <a:srgbClr val="22272E"/>
                          </a:solidFill>
                        </a:rPr>
                        <a:t>izolează punctele prin diviziuni aleatoare; anomaliile cer mai puține tăieturi</a:t>
                      </a:r>
                    </a:p>
                  </a:txBody>
                  <a:tcPr anchor="ctr">
                    <a:solidFill>
                      <a:srgbClr val="F4F6F9"/>
                    </a:solidFill>
                  </a:tcPr>
                </a:tc>
              </a:tr>
              <a:tr h="516635">
                <a:tc>
                  <a:txBody>
                    <a:bodyPr/>
                    <a:lstStyle/>
                    <a:p>
                      <a:pPr algn="l"/>
                      <a:r>
                        <a:rPr sz="1250">
                          <a:solidFill>
                            <a:srgbClr val="22272E"/>
                          </a:solidFill>
                        </a:rPr>
                        <a:t>Autoencoder MLP</a:t>
                      </a:r>
                    </a:p>
                  </a:txBody>
                  <a:tcPr anchor="ctr">
                    <a:solidFill>
                      <a:srgbClr val="FFFFFF"/>
                    </a:solidFill>
                  </a:tcPr>
                </a:tc>
                <a:tc>
                  <a:txBody>
                    <a:bodyPr/>
                    <a:lstStyle/>
                    <a:p>
                      <a:pPr algn="ctr"/>
                      <a:r>
                        <a:rPr sz="1250">
                          <a:solidFill>
                            <a:srgbClr val="22272E"/>
                          </a:solidFill>
                        </a:rPr>
                        <a:t>Bottleneck / reconstrucție</a:t>
                      </a:r>
                    </a:p>
                  </a:txBody>
                  <a:tcPr anchor="ctr">
                    <a:solidFill>
                      <a:srgbClr val="FFFFFF"/>
                    </a:solidFill>
                  </a:tcPr>
                </a:tc>
                <a:tc>
                  <a:txBody>
                    <a:bodyPr/>
                    <a:lstStyle/>
                    <a:p>
                      <a:pPr algn="ctr"/>
                      <a:r>
                        <a:rPr sz="1250">
                          <a:solidFill>
                            <a:srgbClr val="22272E"/>
                          </a:solidFill>
                        </a:rPr>
                        <a:t>comprimă vectorul printr-un bottleneck și încearcă să-l reconstruiască</a:t>
                      </a:r>
                    </a:p>
                  </a:txBody>
                  <a:tcPr anchor="ctr">
                    <a:solidFill>
                      <a:srgbClr val="FFFFFF"/>
                    </a:solidFill>
                  </a:tcPr>
                </a:tc>
              </a:tr>
              <a:tr h="516635">
                <a:tc>
                  <a:txBody>
                    <a:bodyPr/>
                    <a:lstStyle/>
                    <a:p>
                      <a:pPr algn="l"/>
                      <a:r>
                        <a:rPr sz="1250">
                          <a:solidFill>
                            <a:srgbClr val="22272E"/>
                          </a:solidFill>
                        </a:rPr>
                        <a:t>Autoencoder LSTM</a:t>
                      </a:r>
                    </a:p>
                  </a:txBody>
                  <a:tcPr anchor="ctr">
                    <a:solidFill>
                      <a:srgbClr val="F4F6F9"/>
                    </a:solidFill>
                  </a:tcPr>
                </a:tc>
                <a:tc>
                  <a:txBody>
                    <a:bodyPr/>
                    <a:lstStyle/>
                    <a:p>
                      <a:pPr algn="ctr"/>
                      <a:r>
                        <a:rPr sz="1250">
                          <a:solidFill>
                            <a:srgbClr val="22272E"/>
                          </a:solidFill>
                        </a:rPr>
                        <a:t>Bottleneck / reconstrucție (secvențial)</a:t>
                      </a:r>
                    </a:p>
                  </a:txBody>
                  <a:tcPr anchor="ctr">
                    <a:solidFill>
                      <a:srgbClr val="F4F6F9"/>
                    </a:solidFill>
                  </a:tcPr>
                </a:tc>
                <a:tc>
                  <a:txBody>
                    <a:bodyPr/>
                    <a:lstStyle/>
                    <a:p>
                      <a:pPr algn="ctr"/>
                      <a:r>
                        <a:rPr sz="1250">
                          <a:solidFill>
                            <a:srgbClr val="22272E"/>
                          </a:solidFill>
                        </a:rPr>
                        <a:t>comprimă o secvență într-o singură stare ascunsă sumară</a:t>
                      </a:r>
                    </a:p>
                  </a:txBody>
                  <a:tcPr anchor="ctr">
                    <a:solidFill>
                      <a:srgbClr val="F4F6F9"/>
                    </a:solidFill>
                  </a:tcPr>
                </a:tc>
              </a:tr>
              <a:tr h="516635">
                <a:tc>
                  <a:txBody>
                    <a:bodyPr/>
                    <a:lstStyle/>
                    <a:p>
                      <a:pPr algn="l"/>
                      <a:r>
                        <a:rPr sz="1250">
                          <a:solidFill>
                            <a:srgbClr val="22272E"/>
                          </a:solidFill>
                        </a:rPr>
                        <a:t>LSTM Predictiv</a:t>
                      </a:r>
                    </a:p>
                  </a:txBody>
                  <a:tcPr anchor="ctr">
                    <a:solidFill>
                      <a:srgbClr val="FFFFFF"/>
                    </a:solidFill>
                  </a:tcPr>
                </a:tc>
                <a:tc>
                  <a:txBody>
                    <a:bodyPr/>
                    <a:lstStyle/>
                    <a:p>
                      <a:pPr algn="ctr"/>
                      <a:r>
                        <a:rPr sz="1250">
                          <a:solidFill>
                            <a:srgbClr val="22272E"/>
                          </a:solidFill>
                        </a:rPr>
                        <a:t>Obiectiv predictiv</a:t>
                      </a:r>
                    </a:p>
                  </a:txBody>
                  <a:tcPr anchor="ctr">
                    <a:solidFill>
                      <a:srgbClr val="FFFFFF"/>
                    </a:solidFill>
                  </a:tcPr>
                </a:tc>
                <a:tc>
                  <a:txBody>
                    <a:bodyPr/>
                    <a:lstStyle/>
                    <a:p>
                      <a:pPr algn="ctr"/>
                      <a:r>
                        <a:rPr sz="1250">
                          <a:solidFill>
                            <a:srgbClr val="22272E"/>
                          </a:solidFill>
                        </a:rPr>
                        <a:t>învață să prezică pasul t+1 din pașii anteriori</a:t>
                      </a:r>
                    </a:p>
                  </a:txBody>
                  <a:tcPr anchor="ctr">
                    <a:solidFill>
                      <a:srgbClr val="FFFFFF"/>
                    </a:solidFill>
                  </a:tcPr>
                </a:tc>
              </a:tr>
              <a:tr h="516635">
                <a:tc>
                  <a:txBody>
                    <a:bodyPr/>
                    <a:lstStyle/>
                    <a:p>
                      <a:pPr algn="l"/>
                      <a:r>
                        <a:rPr sz="1250">
                          <a:solidFill>
                            <a:srgbClr val="22272E"/>
                          </a:solidFill>
                        </a:rPr>
                        <a:t>Bottleneck Transformer AE</a:t>
                      </a:r>
                    </a:p>
                  </a:txBody>
                  <a:tcPr anchor="ctr">
                    <a:solidFill>
                      <a:srgbClr val="F4F6F9"/>
                    </a:solidFill>
                  </a:tcPr>
                </a:tc>
                <a:tc>
                  <a:txBody>
                    <a:bodyPr/>
                    <a:lstStyle/>
                    <a:p>
                      <a:pPr algn="ctr"/>
                      <a:r>
                        <a:rPr sz="1250">
                          <a:solidFill>
                            <a:srgbClr val="22272E"/>
                          </a:solidFill>
                        </a:rPr>
                        <a:t>Bottleneck / reconstrucție (secvențial)</a:t>
                      </a:r>
                    </a:p>
                  </a:txBody>
                  <a:tcPr anchor="ctr">
                    <a:solidFill>
                      <a:srgbClr val="F4F6F9"/>
                    </a:solidFill>
                  </a:tcPr>
                </a:tc>
                <a:tc>
                  <a:txBody>
                    <a:bodyPr/>
                    <a:lstStyle/>
                    <a:p>
                      <a:pPr algn="ctr"/>
                      <a:r>
                        <a:rPr sz="1250">
                          <a:solidFill>
                            <a:srgbClr val="22272E"/>
                          </a:solidFill>
                        </a:rPr>
                        <a:t>auto-atenție non-cauzală + mediere globală printr-un bottleneck liniar</a:t>
                      </a:r>
                    </a:p>
                  </a:txBody>
                  <a:tcPr anchor="ctr">
                    <a:solidFill>
                      <a:srgbClr val="F4F6F9"/>
                    </a:solidFill>
                  </a:tcPr>
                </a:tc>
              </a:tr>
              <a:tr h="516635">
                <a:tc>
                  <a:txBody>
                    <a:bodyPr/>
                    <a:lstStyle/>
                    <a:p>
                      <a:pPr algn="l"/>
                      <a:r>
                        <a:rPr sz="1250">
                          <a:solidFill>
                            <a:srgbClr val="22272E"/>
                          </a:solidFill>
                        </a:rPr>
                        <a:t>Causal Transformer</a:t>
                      </a:r>
                    </a:p>
                  </a:txBody>
                  <a:tcPr anchor="ctr">
                    <a:solidFill>
                      <a:srgbClr val="FFFFFF"/>
                    </a:solidFill>
                  </a:tcPr>
                </a:tc>
                <a:tc>
                  <a:txBody>
                    <a:bodyPr/>
                    <a:lstStyle/>
                    <a:p>
                      <a:pPr algn="ctr"/>
                      <a:r>
                        <a:rPr sz="1250">
                          <a:solidFill>
                            <a:srgbClr val="22272E"/>
                          </a:solidFill>
                        </a:rPr>
                        <a:t>Obiectiv predictiv</a:t>
                      </a:r>
                    </a:p>
                  </a:txBody>
                  <a:tcPr anchor="ctr">
                    <a:solidFill>
                      <a:srgbClr val="FFFFFF"/>
                    </a:solidFill>
                  </a:tcPr>
                </a:tc>
                <a:tc>
                  <a:txBody>
                    <a:bodyPr/>
                    <a:lstStyle/>
                    <a:p>
                      <a:pPr algn="ctr"/>
                      <a:r>
                        <a:rPr sz="1250">
                          <a:solidFill>
                            <a:srgbClr val="22272E"/>
                          </a:solidFill>
                        </a:rPr>
                        <a:t>echivalentul predictiv, bazat pe atenție cauzală, al LSTM Predictiv</a:t>
                      </a:r>
                    </a:p>
                  </a:txBody>
                  <a:tcPr anchor="ctr">
                    <a:solidFill>
                      <a:srgbClr val="FFFFFF"/>
                    </a:solidFill>
                  </a:tcPr>
                </a:tc>
              </a:tr>
            </a:tbl>
          </a:graphicData>
        </a:graphic>
      </p:graphicFrame>
      <p:sp>
        <p:nvSpPr>
          <p:cNvPr id="8" name="TextBox 7"/>
          <p:cNvSpPr txBox="1"/>
          <p:nvPr/>
        </p:nvSpPr>
        <p:spPr>
          <a:xfrm>
            <a:off x="502920" y="5870448"/>
            <a:ext cx="11155680" cy="457200"/>
          </a:xfrm>
          <a:prstGeom prst="rect">
            <a:avLst/>
          </a:prstGeom>
          <a:noFill/>
        </p:spPr>
        <p:txBody>
          <a:bodyPr wrap="square" anchor="t">
            <a:spAutoFit/>
          </a:bodyPr>
          <a:lstStyle/>
          <a:p>
            <a:pPr algn="l">
              <a:lnSpc>
                <a:spcPct val="100000"/>
              </a:lnSpc>
            </a:pPr>
            <a:r>
              <a:rPr sz="1250" b="0" i="1">
                <a:solidFill>
                  <a:srgbClr val="5A6370"/>
                </a:solidFill>
                <a:latin typeface="Calibri"/>
              </a:rPr>
              <a:t>Toate scorurile sunt convertite la convenția „scor mai mare = mai anormal”, indiferent de paradigmă.</a:t>
            </a:r>
          </a:p>
        </p:txBody>
      </p:sp>
      <p:sp>
        <p:nvSpPr>
          <p:cNvPr id="9" name="TextBox 8"/>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§2.2 Algoritmi de Detecție a Anomaliilor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PRELIMINARII</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Seturile de date: un spectru de structură temporală</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05</a:t>
            </a:r>
          </a:p>
        </p:txBody>
      </p:sp>
      <p:sp>
        <p:nvSpPr>
          <p:cNvPr id="7" name="Rectangle 6"/>
          <p:cNvSpPr/>
          <p:nvPr/>
        </p:nvSpPr>
        <p:spPr>
          <a:xfrm>
            <a:off x="502920" y="1463040"/>
            <a:ext cx="3611880" cy="32918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611880" cy="73152"/>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0720" y="1666240"/>
            <a:ext cx="3256280" cy="548640"/>
          </a:xfrm>
          <a:prstGeom prst="rect">
            <a:avLst/>
          </a:prstGeom>
          <a:noFill/>
        </p:spPr>
        <p:txBody>
          <a:bodyPr wrap="square" anchor="t">
            <a:spAutoFit/>
          </a:bodyPr>
          <a:lstStyle/>
          <a:p>
            <a:pPr algn="l">
              <a:lnSpc>
                <a:spcPct val="100000"/>
              </a:lnSpc>
            </a:pPr>
            <a:r>
              <a:rPr sz="1650" b="1" i="0">
                <a:solidFill>
                  <a:srgbClr val="1B2A4A"/>
                </a:solidFill>
                <a:latin typeface="Calibri"/>
              </a:rPr>
              <a:t>A — Credit Card Fraud</a:t>
            </a:r>
          </a:p>
        </p:txBody>
      </p:sp>
      <p:sp>
        <p:nvSpPr>
          <p:cNvPr id="10" name="TextBox 9"/>
          <p:cNvSpPr txBox="1"/>
          <p:nvPr/>
        </p:nvSpPr>
        <p:spPr>
          <a:xfrm>
            <a:off x="680720" y="2199640"/>
            <a:ext cx="3256280" cy="548640"/>
          </a:xfrm>
          <a:prstGeom prst="rect">
            <a:avLst/>
          </a:prstGeom>
          <a:noFill/>
        </p:spPr>
        <p:txBody>
          <a:bodyPr wrap="square" anchor="t">
            <a:spAutoFit/>
          </a:bodyPr>
          <a:lstStyle/>
          <a:p>
            <a:pPr algn="l">
              <a:lnSpc>
                <a:spcPct val="100000"/>
              </a:lnSpc>
            </a:pPr>
            <a:r>
              <a:rPr sz="1250" b="1" i="0">
                <a:solidFill>
                  <a:srgbClr val="2E5C8A"/>
                </a:solidFill>
                <a:latin typeface="Calibri"/>
              </a:rPr>
              <a:t>284.807 tranzacții, 0.172% frauduloase</a:t>
            </a:r>
          </a:p>
        </p:txBody>
      </p:sp>
      <p:sp>
        <p:nvSpPr>
          <p:cNvPr id="11" name="TextBox 10"/>
          <p:cNvSpPr txBox="1"/>
          <p:nvPr/>
        </p:nvSpPr>
        <p:spPr>
          <a:xfrm>
            <a:off x="680720" y="2796540"/>
            <a:ext cx="3256280" cy="2011680"/>
          </a:xfrm>
          <a:prstGeom prst="rect">
            <a:avLst/>
          </a:prstGeom>
          <a:noFill/>
        </p:spPr>
        <p:txBody>
          <a:bodyPr wrap="square">
            <a:spAutoFit/>
          </a:bodyPr>
          <a:lstStyle/>
          <a:p>
            <a:pPr>
              <a:lnSpc>
                <a:spcPct val="108000"/>
              </a:lnSpc>
              <a:spcAft>
                <a:spcPts val="800"/>
              </a:spcAft>
            </a:pPr>
            <a:r>
              <a:rPr sz="1250" b="1">
                <a:solidFill>
                  <a:srgbClr val="E07A2C"/>
                </a:solidFill>
                <a:latin typeface="Calibri"/>
              </a:rPr>
              <a:t>▸  </a:t>
            </a:r>
            <a:r>
              <a:rPr sz="1250" b="0">
                <a:solidFill>
                  <a:srgbClr val="22272E"/>
                </a:solidFill>
                <a:latin typeface="Calibri"/>
              </a:rPr>
              <a:t>V1–V28 (PCA) + Amount</a:t>
            </a:r>
          </a:p>
          <a:p>
            <a:pPr>
              <a:lnSpc>
                <a:spcPct val="108000"/>
              </a:lnSpc>
              <a:spcAft>
                <a:spcPts val="800"/>
              </a:spcAft>
            </a:pPr>
            <a:r>
              <a:rPr sz="1250" b="1">
                <a:solidFill>
                  <a:srgbClr val="E07A2C"/>
                </a:solidFill>
                <a:latin typeface="Calibri"/>
              </a:rPr>
              <a:t>▸  </a:t>
            </a:r>
            <a:r>
              <a:rPr sz="1250" b="0">
                <a:solidFill>
                  <a:srgbClr val="22272E"/>
                </a:solidFill>
                <a:latin typeface="Calibri"/>
              </a:rPr>
              <a:t>Fără ordine temporală reală → caz de control</a:t>
            </a:r>
          </a:p>
        </p:txBody>
      </p:sp>
      <p:sp>
        <p:nvSpPr>
          <p:cNvPr id="12" name="Rectangle 11"/>
          <p:cNvSpPr/>
          <p:nvPr/>
        </p:nvSpPr>
        <p:spPr>
          <a:xfrm>
            <a:off x="4297680" y="1463040"/>
            <a:ext cx="3611880" cy="32918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63040"/>
            <a:ext cx="3611880" cy="73152"/>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5480" y="1666240"/>
            <a:ext cx="3256280" cy="548640"/>
          </a:xfrm>
          <a:prstGeom prst="rect">
            <a:avLst/>
          </a:prstGeom>
          <a:noFill/>
        </p:spPr>
        <p:txBody>
          <a:bodyPr wrap="square" anchor="t">
            <a:spAutoFit/>
          </a:bodyPr>
          <a:lstStyle/>
          <a:p>
            <a:pPr algn="l">
              <a:lnSpc>
                <a:spcPct val="100000"/>
              </a:lnSpc>
            </a:pPr>
            <a:r>
              <a:rPr sz="1650" b="1" i="0">
                <a:solidFill>
                  <a:srgbClr val="1B2A4A"/>
                </a:solidFill>
                <a:latin typeface="Calibri"/>
              </a:rPr>
              <a:t>B — Yahoo Webscope S5</a:t>
            </a:r>
          </a:p>
        </p:txBody>
      </p:sp>
      <p:sp>
        <p:nvSpPr>
          <p:cNvPr id="15" name="TextBox 14"/>
          <p:cNvSpPr txBox="1"/>
          <p:nvPr/>
        </p:nvSpPr>
        <p:spPr>
          <a:xfrm>
            <a:off x="4475480" y="2199640"/>
            <a:ext cx="3256280" cy="548640"/>
          </a:xfrm>
          <a:prstGeom prst="rect">
            <a:avLst/>
          </a:prstGeom>
          <a:noFill/>
        </p:spPr>
        <p:txBody>
          <a:bodyPr wrap="square" anchor="t">
            <a:spAutoFit/>
          </a:bodyPr>
          <a:lstStyle/>
          <a:p>
            <a:pPr algn="l">
              <a:lnSpc>
                <a:spcPct val="100000"/>
              </a:lnSpc>
            </a:pPr>
            <a:r>
              <a:rPr sz="1250" b="1" i="0">
                <a:solidFill>
                  <a:srgbClr val="2E5C8A"/>
                </a:solidFill>
                <a:latin typeface="Calibri"/>
              </a:rPr>
              <a:t>4 familii de benchmark (A1–A4), serii univariate</a:t>
            </a:r>
          </a:p>
        </p:txBody>
      </p:sp>
      <p:sp>
        <p:nvSpPr>
          <p:cNvPr id="16" name="TextBox 15"/>
          <p:cNvSpPr txBox="1"/>
          <p:nvPr/>
        </p:nvSpPr>
        <p:spPr>
          <a:xfrm>
            <a:off x="4475480" y="2796540"/>
            <a:ext cx="3256280" cy="2011680"/>
          </a:xfrm>
          <a:prstGeom prst="rect">
            <a:avLst/>
          </a:prstGeom>
          <a:noFill/>
        </p:spPr>
        <p:txBody>
          <a:bodyPr wrap="square">
            <a:spAutoFit/>
          </a:bodyPr>
          <a:lstStyle/>
          <a:p>
            <a:pPr>
              <a:lnSpc>
                <a:spcPct val="108000"/>
              </a:lnSpc>
              <a:spcAft>
                <a:spcPts val="800"/>
              </a:spcAft>
            </a:pPr>
            <a:r>
              <a:rPr sz="1250" b="1">
                <a:solidFill>
                  <a:srgbClr val="E07A2C"/>
                </a:solidFill>
                <a:latin typeface="Calibri"/>
              </a:rPr>
              <a:t>▸  </a:t>
            </a:r>
            <a:r>
              <a:rPr sz="1250" b="0">
                <a:solidFill>
                  <a:srgbClr val="22272E"/>
                </a:solidFill>
                <a:latin typeface="Calibri"/>
              </a:rPr>
              <a:t>A1: valori punctuale (real, zgomotos)</a:t>
            </a:r>
          </a:p>
          <a:p>
            <a:pPr>
              <a:lnSpc>
                <a:spcPct val="108000"/>
              </a:lnSpc>
              <a:spcAft>
                <a:spcPts val="800"/>
              </a:spcAft>
            </a:pPr>
            <a:r>
              <a:rPr sz="1250" b="1">
                <a:solidFill>
                  <a:srgbClr val="E07A2C"/>
                </a:solidFill>
                <a:latin typeface="Calibri"/>
              </a:rPr>
              <a:t>▸  </a:t>
            </a:r>
            <a:r>
              <a:rPr sz="1250" b="0">
                <a:solidFill>
                  <a:srgbClr val="22272E"/>
                </a:solidFill>
                <a:latin typeface="Calibri"/>
              </a:rPr>
              <a:t>A3: contextual / sezonier</a:t>
            </a:r>
          </a:p>
          <a:p>
            <a:pPr>
              <a:lnSpc>
                <a:spcPct val="108000"/>
              </a:lnSpc>
              <a:spcAft>
                <a:spcPts val="800"/>
              </a:spcAft>
            </a:pPr>
            <a:r>
              <a:rPr sz="1250" b="1">
                <a:solidFill>
                  <a:srgbClr val="E07A2C"/>
                </a:solidFill>
                <a:latin typeface="Calibri"/>
              </a:rPr>
              <a:t>▸  </a:t>
            </a:r>
            <a:r>
              <a:rPr sz="1250" b="0">
                <a:solidFill>
                  <a:srgbClr val="22272E"/>
                </a:solidFill>
                <a:latin typeface="Calibri"/>
              </a:rPr>
              <a:t>A4: schimbare de nivel</a:t>
            </a:r>
          </a:p>
        </p:txBody>
      </p:sp>
      <p:sp>
        <p:nvSpPr>
          <p:cNvPr id="17" name="Rectangle 16"/>
          <p:cNvSpPr/>
          <p:nvPr/>
        </p:nvSpPr>
        <p:spPr>
          <a:xfrm>
            <a:off x="8092440" y="1463040"/>
            <a:ext cx="3611880" cy="32918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463040"/>
            <a:ext cx="3611880" cy="73152"/>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0240" y="1666240"/>
            <a:ext cx="3256280" cy="548640"/>
          </a:xfrm>
          <a:prstGeom prst="rect">
            <a:avLst/>
          </a:prstGeom>
          <a:noFill/>
        </p:spPr>
        <p:txBody>
          <a:bodyPr wrap="square" anchor="t">
            <a:spAutoFit/>
          </a:bodyPr>
          <a:lstStyle/>
          <a:p>
            <a:pPr algn="l">
              <a:lnSpc>
                <a:spcPct val="100000"/>
              </a:lnSpc>
            </a:pPr>
            <a:r>
              <a:rPr sz="1650" b="1" i="0">
                <a:solidFill>
                  <a:srgbClr val="1B2A4A"/>
                </a:solidFill>
                <a:latin typeface="Calibri"/>
              </a:rPr>
              <a:t>C — CIC-IDS2017</a:t>
            </a:r>
          </a:p>
        </p:txBody>
      </p:sp>
      <p:sp>
        <p:nvSpPr>
          <p:cNvPr id="20" name="TextBox 19"/>
          <p:cNvSpPr txBox="1"/>
          <p:nvPr/>
        </p:nvSpPr>
        <p:spPr>
          <a:xfrm>
            <a:off x="8270240" y="2199640"/>
            <a:ext cx="3256280" cy="548640"/>
          </a:xfrm>
          <a:prstGeom prst="rect">
            <a:avLst/>
          </a:prstGeom>
          <a:noFill/>
        </p:spPr>
        <p:txBody>
          <a:bodyPr wrap="square" anchor="t">
            <a:spAutoFit/>
          </a:bodyPr>
          <a:lstStyle/>
          <a:p>
            <a:pPr algn="l">
              <a:lnSpc>
                <a:spcPct val="100000"/>
              </a:lnSpc>
            </a:pPr>
            <a:r>
              <a:rPr sz="1250" b="1" i="0">
                <a:solidFill>
                  <a:srgbClr val="2E5C8A"/>
                </a:solidFill>
                <a:latin typeface="Calibri"/>
              </a:rPr>
              <a:t>~2.8M fluxuri de rețea, 14 tipuri de atac</a:t>
            </a:r>
          </a:p>
        </p:txBody>
      </p:sp>
      <p:sp>
        <p:nvSpPr>
          <p:cNvPr id="21" name="TextBox 20"/>
          <p:cNvSpPr txBox="1"/>
          <p:nvPr/>
        </p:nvSpPr>
        <p:spPr>
          <a:xfrm>
            <a:off x="8270240" y="2796540"/>
            <a:ext cx="3256280" cy="2011680"/>
          </a:xfrm>
          <a:prstGeom prst="rect">
            <a:avLst/>
          </a:prstGeom>
          <a:noFill/>
        </p:spPr>
        <p:txBody>
          <a:bodyPr wrap="square">
            <a:spAutoFit/>
          </a:bodyPr>
          <a:lstStyle/>
          <a:p>
            <a:pPr>
              <a:lnSpc>
                <a:spcPct val="108000"/>
              </a:lnSpc>
              <a:spcAft>
                <a:spcPts val="800"/>
              </a:spcAft>
            </a:pPr>
            <a:r>
              <a:rPr sz="1250" b="1">
                <a:solidFill>
                  <a:srgbClr val="E07A2C"/>
                </a:solidFill>
                <a:latin typeface="Calibri"/>
              </a:rPr>
              <a:t>▸  </a:t>
            </a:r>
            <a:r>
              <a:rPr sz="1250" b="0">
                <a:solidFill>
                  <a:srgbClr val="22272E"/>
                </a:solidFill>
                <a:latin typeface="Calibri"/>
              </a:rPr>
              <a:t>~80 caracteristici statistice (CICFlowMeter)</a:t>
            </a:r>
          </a:p>
          <a:p>
            <a:pPr>
              <a:lnSpc>
                <a:spcPct val="108000"/>
              </a:lnSpc>
              <a:spcAft>
                <a:spcPts val="800"/>
              </a:spcAft>
            </a:pPr>
            <a:r>
              <a:rPr sz="1250" b="1">
                <a:solidFill>
                  <a:srgbClr val="E07A2C"/>
                </a:solidFill>
                <a:latin typeface="Calibri"/>
              </a:rPr>
              <a:t>▸  </a:t>
            </a:r>
            <a:r>
              <a:rPr sz="1250" b="0">
                <a:solidFill>
                  <a:srgbClr val="22272E"/>
                </a:solidFill>
                <a:latin typeface="Calibri"/>
              </a:rPr>
              <a:t>Admite vedere plată şi temporală (caz de tranziție)</a:t>
            </a:r>
          </a:p>
        </p:txBody>
      </p:sp>
      <p:sp>
        <p:nvSpPr>
          <p:cNvPr id="22" name="Rectangle 21"/>
          <p:cNvSpPr/>
          <p:nvPr/>
        </p:nvSpPr>
        <p:spPr>
          <a:xfrm>
            <a:off x="502920" y="5029200"/>
            <a:ext cx="11201400"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66360"/>
            <a:ext cx="10698480" cy="822960"/>
          </a:xfrm>
          <a:prstGeom prst="rect">
            <a:avLst/>
          </a:prstGeom>
          <a:noFill/>
        </p:spPr>
        <p:txBody>
          <a:bodyPr wrap="square" anchor="ctr">
            <a:spAutoFit/>
          </a:bodyPr>
          <a:lstStyle/>
          <a:p>
            <a:pPr algn="l">
              <a:lnSpc>
                <a:spcPct val="120000"/>
              </a:lnSpc>
            </a:pPr>
            <a:r>
              <a:rPr sz="1550" b="1" i="0">
                <a:solidFill>
                  <a:srgbClr val="FFFFFF"/>
                </a:solidFill>
                <a:latin typeface="Calibri"/>
              </a:rPr>
              <a:t>Metrica principală raportată: PR-AUC (Precizia Medie) — independentă de prag, spre deosebire de F1, care depinde de un prag ales manual și poate fi înșelător la clase dezechilibrate.</a:t>
            </a:r>
          </a:p>
        </p:txBody>
      </p:sp>
      <p:sp>
        <p:nvSpPr>
          <p:cNvPr id="24" name="TextBox 23"/>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§2.3 Seturile de Date și §3.2.1 Metrici Raportate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PRELIMINARII</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Ipoteze și comportament așteptat</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06</a:t>
            </a:r>
          </a:p>
        </p:txBody>
      </p:sp>
      <p:sp>
        <p:nvSpPr>
          <p:cNvPr id="7" name="TextBox 6"/>
          <p:cNvSpPr txBox="1"/>
          <p:nvPr/>
        </p:nvSpPr>
        <p:spPr>
          <a:xfrm>
            <a:off x="502920" y="1371600"/>
            <a:ext cx="11155680" cy="548640"/>
          </a:xfrm>
          <a:prstGeom prst="rect">
            <a:avLst/>
          </a:prstGeom>
          <a:noFill/>
        </p:spPr>
        <p:txBody>
          <a:bodyPr wrap="square" anchor="t">
            <a:spAutoFit/>
          </a:bodyPr>
          <a:lstStyle/>
          <a:p>
            <a:pPr algn="l">
              <a:lnSpc>
                <a:spcPct val="100000"/>
              </a:lnSpc>
            </a:pPr>
            <a:r>
              <a:rPr sz="1600" b="0" i="1">
                <a:solidFill>
                  <a:srgbClr val="5A6370"/>
                </a:solidFill>
                <a:latin typeface="Calibri"/>
              </a:rPr>
              <a:t>Pe baza celor două axe (paradigmă × set de date), sunt anticipate două tipare în rezultate.</a:t>
            </a:r>
          </a:p>
        </p:txBody>
      </p:sp>
      <p:sp>
        <p:nvSpPr>
          <p:cNvPr id="8" name="Rectangle 7"/>
          <p:cNvSpPr/>
          <p:nvPr/>
        </p:nvSpPr>
        <p:spPr>
          <a:xfrm>
            <a:off x="502920" y="2103120"/>
            <a:ext cx="11201400" cy="1965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76200" cy="196596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7720" y="2267712"/>
            <a:ext cx="10591800" cy="365760"/>
          </a:xfrm>
          <a:prstGeom prst="rect">
            <a:avLst/>
          </a:prstGeom>
          <a:noFill/>
        </p:spPr>
        <p:txBody>
          <a:bodyPr wrap="square" anchor="t">
            <a:spAutoFit/>
          </a:bodyPr>
          <a:lstStyle/>
          <a:p>
            <a:pPr algn="l">
              <a:lnSpc>
                <a:spcPct val="100000"/>
              </a:lnSpc>
            </a:pPr>
            <a:r>
              <a:rPr sz="1650" b="1" i="0">
                <a:solidFill>
                  <a:srgbClr val="1B2A4A"/>
                </a:solidFill>
                <a:latin typeface="Calibri"/>
              </a:rPr>
              <a:t>Ipoteza 1 — structura temporală avantajează datele secvențiale</a:t>
            </a:r>
          </a:p>
        </p:txBody>
      </p:sp>
      <p:sp>
        <p:nvSpPr>
          <p:cNvPr id="11" name="TextBox 10"/>
          <p:cNvSpPr txBox="1"/>
          <p:nvPr/>
        </p:nvSpPr>
        <p:spPr>
          <a:xfrm>
            <a:off x="807720" y="2697480"/>
            <a:ext cx="10591800" cy="1280160"/>
          </a:xfrm>
          <a:prstGeom prst="rect">
            <a:avLst/>
          </a:prstGeom>
          <a:noFill/>
        </p:spPr>
        <p:txBody>
          <a:bodyPr wrap="square" anchor="t">
            <a:spAutoFit/>
          </a:bodyPr>
          <a:lstStyle/>
          <a:p>
            <a:pPr algn="l">
              <a:lnSpc>
                <a:spcPct val="125000"/>
              </a:lnSpc>
            </a:pPr>
            <a:r>
              <a:rPr sz="1450" b="0" i="0">
                <a:solidFill>
                  <a:srgbClr val="22272E"/>
                </a:solidFill>
                <a:latin typeface="Calibri"/>
              </a:rPr>
              <a:t>Paradigmele care oferă modelului o structură temporală inerentă (prin construcție, nu doar prin ferestre de intrare) ar trebui să performeze mai bine pe seturile de date cu adevărat secvențiale (Yahoo S5 și, într-o măsură mai mică, varianta temporală a CIC-IDS2017), comparativ cu paradigmele care tratează fiecare eșantion ca independent.</a:t>
            </a:r>
          </a:p>
        </p:txBody>
      </p:sp>
      <p:sp>
        <p:nvSpPr>
          <p:cNvPr id="12" name="Rectangle 11"/>
          <p:cNvSpPr/>
          <p:nvPr/>
        </p:nvSpPr>
        <p:spPr>
          <a:xfrm>
            <a:off x="502920" y="4343400"/>
            <a:ext cx="11201400" cy="1965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4343400"/>
            <a:ext cx="76200" cy="196596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 y="4507992"/>
            <a:ext cx="10591800" cy="365760"/>
          </a:xfrm>
          <a:prstGeom prst="rect">
            <a:avLst/>
          </a:prstGeom>
          <a:noFill/>
        </p:spPr>
        <p:txBody>
          <a:bodyPr wrap="square" anchor="t">
            <a:spAutoFit/>
          </a:bodyPr>
          <a:lstStyle/>
          <a:p>
            <a:pPr algn="l">
              <a:lnSpc>
                <a:spcPct val="100000"/>
              </a:lnSpc>
            </a:pPr>
            <a:r>
              <a:rPr sz="1650" b="1" i="0">
                <a:solidFill>
                  <a:srgbClr val="1B2A4A"/>
                </a:solidFill>
                <a:latin typeface="Calibri"/>
              </a:rPr>
              <a:t>Ipoteza 2 — diferite paradigme detectează diferite tipuri de anomalii</a:t>
            </a:r>
          </a:p>
        </p:txBody>
      </p:sp>
      <p:sp>
        <p:nvSpPr>
          <p:cNvPr id="15" name="TextBox 14"/>
          <p:cNvSpPr txBox="1"/>
          <p:nvPr/>
        </p:nvSpPr>
        <p:spPr>
          <a:xfrm>
            <a:off x="807720" y="4937760"/>
            <a:ext cx="10591800" cy="1280160"/>
          </a:xfrm>
          <a:prstGeom prst="rect">
            <a:avLst/>
          </a:prstGeom>
          <a:noFill/>
        </p:spPr>
        <p:txBody>
          <a:bodyPr wrap="square" anchor="t">
            <a:spAutoFit/>
          </a:bodyPr>
          <a:lstStyle/>
          <a:p>
            <a:pPr algn="l">
              <a:lnSpc>
                <a:spcPct val="125000"/>
              </a:lnSpc>
            </a:pPr>
            <a:r>
              <a:rPr sz="1450" b="0" i="0">
                <a:solidFill>
                  <a:srgbClr val="22272E"/>
                </a:solidFill>
                <a:latin typeface="Calibri"/>
              </a:rPr>
              <a:t>Dacă presupunerea e corectă, compunerea mai multor paradigme complementare într-un ansamblu ar trebui să ducă la o îmbunătățire a performanței față de oricare model individual, atâta timp cât modelele componente exploatează relații diferite din date.</a:t>
            </a:r>
          </a:p>
        </p:txBody>
      </p:sp>
      <p:sp>
        <p:nvSpPr>
          <p:cNvPr id="16" name="TextBox 15"/>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§2.1.1 Ipoteze și Comportament Așteptat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828800" cy="1097280"/>
          </a:xfrm>
          <a:prstGeom prst="rect">
            <a:avLst/>
          </a:prstGeom>
          <a:noFill/>
        </p:spPr>
        <p:txBody>
          <a:bodyPr wrap="square" anchor="t">
            <a:spAutoFit/>
          </a:bodyPr>
          <a:lstStyle/>
          <a:p>
            <a:pPr algn="l">
              <a:lnSpc>
                <a:spcPct val="100000"/>
              </a:lnSpc>
            </a:pPr>
            <a:r>
              <a:rPr sz="7200" b="1" i="0">
                <a:solidFill>
                  <a:srgbClr val="E07A2C"/>
                </a:solidFill>
                <a:latin typeface="Calibri"/>
              </a:rPr>
              <a:t>03</a:t>
            </a:r>
          </a:p>
        </p:txBody>
      </p:sp>
      <p:sp>
        <p:nvSpPr>
          <p:cNvPr id="4" name="TextBox 3"/>
          <p:cNvSpPr txBox="1"/>
          <p:nvPr/>
        </p:nvSpPr>
        <p:spPr>
          <a:xfrm>
            <a:off x="914400" y="3429000"/>
            <a:ext cx="10058400" cy="914400"/>
          </a:xfrm>
          <a:prstGeom prst="rect">
            <a:avLst/>
          </a:prstGeom>
          <a:noFill/>
        </p:spPr>
        <p:txBody>
          <a:bodyPr wrap="square" anchor="t">
            <a:spAutoFit/>
          </a:bodyPr>
          <a:lstStyle/>
          <a:p>
            <a:pPr algn="l">
              <a:lnSpc>
                <a:spcPct val="100000"/>
              </a:lnSpc>
            </a:pPr>
            <a:r>
              <a:rPr sz="3600" b="1" i="0">
                <a:solidFill>
                  <a:srgbClr val="FFFFFF"/>
                </a:solidFill>
                <a:latin typeface="Calibri"/>
              </a:rPr>
              <a:t>Rezultate pe cele trei seturi de date</a:t>
            </a:r>
          </a:p>
        </p:txBody>
      </p:sp>
      <p:sp>
        <p:nvSpPr>
          <p:cNvPr id="5" name="TextBox 4"/>
          <p:cNvSpPr txBox="1"/>
          <p:nvPr/>
        </p:nvSpPr>
        <p:spPr>
          <a:xfrm>
            <a:off x="914400" y="4160520"/>
            <a:ext cx="9601200" cy="731520"/>
          </a:xfrm>
          <a:prstGeom prst="rect">
            <a:avLst/>
          </a:prstGeom>
          <a:noFill/>
        </p:spPr>
        <p:txBody>
          <a:bodyPr wrap="square" anchor="t">
            <a:spAutoFit/>
          </a:bodyPr>
          <a:lstStyle/>
          <a:p>
            <a:pPr algn="l">
              <a:lnSpc>
                <a:spcPct val="100000"/>
              </a:lnSpc>
            </a:pPr>
            <a:r>
              <a:rPr sz="1600" b="0" i="0">
                <a:solidFill>
                  <a:srgbClr val="C9D6E8"/>
                </a:solidFill>
                <a:latin typeface="Calibri"/>
              </a:rPr>
              <a:t>Tabele din capitolul de rezultate și principalele concluzii pentru fiecare 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REZULTATE — SETUL A</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Detectarea Fraudei cu Cardul de Credit</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08</a:t>
            </a:r>
          </a:p>
        </p:txBody>
      </p:sp>
      <p:graphicFrame>
        <p:nvGraphicFramePr>
          <p:cNvPr id="7" name="Table 6"/>
          <p:cNvGraphicFramePr>
            <a:graphicFrameLocks noGrp="1"/>
          </p:cNvGraphicFramePr>
          <p:nvPr/>
        </p:nvGraphicFramePr>
        <p:xfrm>
          <a:off x="502920" y="1325880"/>
          <a:ext cx="11201399" cy="3520440"/>
        </p:xfrm>
        <a:graphic>
          <a:graphicData uri="http://schemas.openxmlformats.org/drawingml/2006/table">
            <a:tbl>
              <a:tblPr firstRow="0" bandRow="0">
                <a:tableStyleId>{5C22544A-7EE6-4342-B048-85BDC9FD1C3A}</a:tableStyleId>
              </a:tblPr>
              <a:tblGrid>
                <a:gridCol w="2576321"/>
                <a:gridCol w="3360420"/>
                <a:gridCol w="1680210"/>
                <a:gridCol w="1904238"/>
                <a:gridCol w="1680210"/>
              </a:tblGrid>
              <a:tr h="502920">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Paradigmă</a:t>
                      </a:r>
                    </a:p>
                  </a:txBody>
                  <a:tcPr anchor="ctr">
                    <a:solidFill>
                      <a:srgbClr val="1B2A4A"/>
                    </a:solidFill>
                  </a:tcPr>
                </a:tc>
                <a:tc>
                  <a:txBody>
                    <a:bodyPr/>
                    <a:lstStyle/>
                    <a:p>
                      <a:pPr algn="ctr"/>
                      <a:r>
                        <a:rPr sz="1300" b="1">
                          <a:solidFill>
                            <a:srgbClr val="FFFFFF"/>
                          </a:solidFill>
                        </a:rPr>
                        <a:t>ROC-AUC</a:t>
                      </a:r>
                    </a:p>
                  </a:txBody>
                  <a:tcPr anchor="ctr">
                    <a:solidFill>
                      <a:srgbClr val="1B2A4A"/>
                    </a:solidFill>
                  </a:tcPr>
                </a:tc>
                <a:tc>
                  <a:txBody>
                    <a:bodyPr/>
                    <a:lstStyle/>
                    <a:p>
                      <a:pPr algn="ctr"/>
                      <a:r>
                        <a:rPr sz="1300" b="1">
                          <a:solidFill>
                            <a:srgbClr val="FFFFFF"/>
                          </a:solidFill>
                        </a:rPr>
                        <a:t>Precizie Medie</a:t>
                      </a:r>
                    </a:p>
                  </a:txBody>
                  <a:tcPr anchor="ctr">
                    <a:solidFill>
                      <a:srgbClr val="1B2A4A"/>
                    </a:solidFill>
                  </a:tcPr>
                </a:tc>
                <a:tc>
                  <a:txBody>
                    <a:bodyPr/>
                    <a:lstStyle/>
                    <a:p>
                      <a:pPr algn="ctr"/>
                      <a:r>
                        <a:rPr sz="1300" b="1">
                          <a:solidFill>
                            <a:srgbClr val="FFFFFF"/>
                          </a:solidFill>
                        </a:rPr>
                        <a:t>F1 (fraudă)</a:t>
                      </a:r>
                    </a:p>
                  </a:txBody>
                  <a:tcPr anchor="ctr">
                    <a:solidFill>
                      <a:srgbClr val="1B2A4A"/>
                    </a:solidFill>
                  </a:tcPr>
                </a:tc>
              </a:tr>
              <a:tr h="502920">
                <a:tc>
                  <a:txBody>
                    <a:bodyPr/>
                    <a:lstStyle/>
                    <a:p>
                      <a:pPr algn="l"/>
                      <a:r>
                        <a:rPr sz="1350" b="1">
                          <a:solidFill>
                            <a:srgbClr val="22272E"/>
                          </a:solidFill>
                        </a:rPr>
                        <a:t>MLP Autoencoder</a:t>
                      </a:r>
                    </a:p>
                  </a:txBody>
                  <a:tcPr anchor="ctr">
                    <a:solidFill>
                      <a:srgbClr val="FCE7D2"/>
                    </a:solidFill>
                  </a:tcPr>
                </a:tc>
                <a:tc>
                  <a:txBody>
                    <a:bodyPr/>
                    <a:lstStyle/>
                    <a:p>
                      <a:pPr algn="ctr"/>
                      <a:r>
                        <a:rPr sz="1350" b="1">
                          <a:solidFill>
                            <a:srgbClr val="22272E"/>
                          </a:solidFill>
                        </a:rPr>
                        <a:t>Reconstrucție</a:t>
                      </a:r>
                    </a:p>
                  </a:txBody>
                  <a:tcPr anchor="ctr">
                    <a:solidFill>
                      <a:srgbClr val="FCE7D2"/>
                    </a:solidFill>
                  </a:tcPr>
                </a:tc>
                <a:tc>
                  <a:txBody>
                    <a:bodyPr/>
                    <a:lstStyle/>
                    <a:p>
                      <a:pPr algn="ctr"/>
                      <a:r>
                        <a:rPr sz="1350" b="1">
                          <a:solidFill>
                            <a:srgbClr val="22272E"/>
                          </a:solidFill>
                        </a:rPr>
                        <a:t>0.9649</a:t>
                      </a:r>
                    </a:p>
                  </a:txBody>
                  <a:tcPr anchor="ctr">
                    <a:solidFill>
                      <a:srgbClr val="FCE7D2"/>
                    </a:solidFill>
                  </a:tcPr>
                </a:tc>
                <a:tc>
                  <a:txBody>
                    <a:bodyPr/>
                    <a:lstStyle/>
                    <a:p>
                      <a:pPr algn="ctr"/>
                      <a:r>
                        <a:rPr sz="1350" b="1">
                          <a:solidFill>
                            <a:srgbClr val="22272E"/>
                          </a:solidFill>
                        </a:rPr>
                        <a:t>0.7105</a:t>
                      </a:r>
                    </a:p>
                  </a:txBody>
                  <a:tcPr anchor="ctr">
                    <a:solidFill>
                      <a:srgbClr val="FCE7D2"/>
                    </a:solidFill>
                  </a:tcPr>
                </a:tc>
                <a:tc>
                  <a:txBody>
                    <a:bodyPr/>
                    <a:lstStyle/>
                    <a:p>
                      <a:pPr algn="ctr"/>
                      <a:r>
                        <a:rPr sz="1350" b="1">
                          <a:solidFill>
                            <a:srgbClr val="22272E"/>
                          </a:solidFill>
                        </a:rPr>
                        <a:t>0.6992</a:t>
                      </a:r>
                    </a:p>
                  </a:txBody>
                  <a:tcPr anchor="ctr">
                    <a:solidFill>
                      <a:srgbClr val="FCE7D2"/>
                    </a:solidFill>
                  </a:tcPr>
                </a:tc>
              </a:tr>
              <a:tr h="502920">
                <a:tc>
                  <a:txBody>
                    <a:bodyPr/>
                    <a:lstStyle/>
                    <a:p>
                      <a:pPr algn="l"/>
                      <a:r>
                        <a:rPr sz="1350">
                          <a:solidFill>
                            <a:srgbClr val="22272E"/>
                          </a:solidFill>
                        </a:rPr>
                        <a:t>Isolation Forest</a:t>
                      </a:r>
                    </a:p>
                  </a:txBody>
                  <a:tcPr anchor="ctr">
                    <a:solidFill>
                      <a:srgbClr val="F4F6F9"/>
                    </a:solidFill>
                  </a:tcPr>
                </a:tc>
                <a:tc>
                  <a:txBody>
                    <a:bodyPr/>
                    <a:lstStyle/>
                    <a:p>
                      <a:pPr algn="ctr"/>
                      <a:r>
                        <a:rPr sz="1350">
                          <a:solidFill>
                            <a:srgbClr val="22272E"/>
                          </a:solidFill>
                        </a:rPr>
                        <a:t>Partiționare</a:t>
                      </a:r>
                    </a:p>
                  </a:txBody>
                  <a:tcPr anchor="ctr">
                    <a:solidFill>
                      <a:srgbClr val="F4F6F9"/>
                    </a:solidFill>
                  </a:tcPr>
                </a:tc>
                <a:tc>
                  <a:txBody>
                    <a:bodyPr/>
                    <a:lstStyle/>
                    <a:p>
                      <a:pPr algn="ctr"/>
                      <a:r>
                        <a:rPr sz="1350">
                          <a:solidFill>
                            <a:srgbClr val="22272E"/>
                          </a:solidFill>
                        </a:rPr>
                        <a:t>0.9587</a:t>
                      </a:r>
                    </a:p>
                  </a:txBody>
                  <a:tcPr anchor="ctr">
                    <a:solidFill>
                      <a:srgbClr val="F4F6F9"/>
                    </a:solidFill>
                  </a:tcPr>
                </a:tc>
                <a:tc>
                  <a:txBody>
                    <a:bodyPr/>
                    <a:lstStyle/>
                    <a:p>
                      <a:pPr algn="ctr"/>
                      <a:r>
                        <a:rPr sz="1350">
                          <a:solidFill>
                            <a:srgbClr val="22272E"/>
                          </a:solidFill>
                        </a:rPr>
                        <a:t>0.6725</a:t>
                      </a:r>
                    </a:p>
                  </a:txBody>
                  <a:tcPr anchor="ctr">
                    <a:solidFill>
                      <a:srgbClr val="F4F6F9"/>
                    </a:solidFill>
                  </a:tcPr>
                </a:tc>
                <a:tc>
                  <a:txBody>
                    <a:bodyPr/>
                    <a:lstStyle/>
                    <a:p>
                      <a:pPr algn="ctr"/>
                      <a:r>
                        <a:rPr sz="1350">
                          <a:solidFill>
                            <a:srgbClr val="22272E"/>
                          </a:solidFill>
                        </a:rPr>
                        <a:t>0.6070</a:t>
                      </a:r>
                    </a:p>
                  </a:txBody>
                  <a:tcPr anchor="ctr">
                    <a:solidFill>
                      <a:srgbClr val="F4F6F9"/>
                    </a:solidFill>
                  </a:tcPr>
                </a:tc>
              </a:tr>
              <a:tr h="502920">
                <a:tc>
                  <a:txBody>
                    <a:bodyPr/>
                    <a:lstStyle/>
                    <a:p>
                      <a:pPr algn="l"/>
                      <a:r>
                        <a:rPr sz="1350">
                          <a:solidFill>
                            <a:srgbClr val="22272E"/>
                          </a:solidFill>
                        </a:rPr>
                        <a:t>LSTM Autoencoder</a:t>
                      </a:r>
                    </a:p>
                  </a:txBody>
                  <a:tcPr anchor="ctr">
                    <a:solidFill>
                      <a:srgbClr val="FFFFFF"/>
                    </a:solidFill>
                  </a:tcPr>
                </a:tc>
                <a:tc>
                  <a:txBody>
                    <a:bodyPr/>
                    <a:lstStyle/>
                    <a:p>
                      <a:pPr algn="ctr"/>
                      <a:r>
                        <a:rPr sz="1350">
                          <a:solidFill>
                            <a:srgbClr val="22272E"/>
                          </a:solidFill>
                        </a:rPr>
                        <a:t>Reconstrucție (pseudo-secv.)</a:t>
                      </a:r>
                    </a:p>
                  </a:txBody>
                  <a:tcPr anchor="ctr">
                    <a:solidFill>
                      <a:srgbClr val="FFFFFF"/>
                    </a:solidFill>
                  </a:tcPr>
                </a:tc>
                <a:tc>
                  <a:txBody>
                    <a:bodyPr/>
                    <a:lstStyle/>
                    <a:p>
                      <a:pPr algn="ctr"/>
                      <a:r>
                        <a:rPr sz="1350">
                          <a:solidFill>
                            <a:srgbClr val="22272E"/>
                          </a:solidFill>
                        </a:rPr>
                        <a:t>0.9476</a:t>
                      </a:r>
                    </a:p>
                  </a:txBody>
                  <a:tcPr anchor="ctr">
                    <a:solidFill>
                      <a:srgbClr val="FFFFFF"/>
                    </a:solidFill>
                  </a:tcPr>
                </a:tc>
                <a:tc>
                  <a:txBody>
                    <a:bodyPr/>
                    <a:lstStyle/>
                    <a:p>
                      <a:pPr algn="ctr"/>
                      <a:r>
                        <a:rPr sz="1350">
                          <a:solidFill>
                            <a:srgbClr val="22272E"/>
                          </a:solidFill>
                        </a:rPr>
                        <a:t>0.6223</a:t>
                      </a:r>
                    </a:p>
                  </a:txBody>
                  <a:tcPr anchor="ctr">
                    <a:solidFill>
                      <a:srgbClr val="FFFFFF"/>
                    </a:solidFill>
                  </a:tcPr>
                </a:tc>
                <a:tc>
                  <a:txBody>
                    <a:bodyPr/>
                    <a:lstStyle/>
                    <a:p>
                      <a:pPr algn="ctr"/>
                      <a:r>
                        <a:rPr sz="1350">
                          <a:solidFill>
                            <a:srgbClr val="22272E"/>
                          </a:solidFill>
                        </a:rPr>
                        <a:t>0.7362</a:t>
                      </a:r>
                    </a:p>
                  </a:txBody>
                  <a:tcPr anchor="ctr">
                    <a:solidFill>
                      <a:srgbClr val="FFFFFF"/>
                    </a:solidFill>
                  </a:tcPr>
                </a:tc>
              </a:tr>
              <a:tr h="502920">
                <a:tc>
                  <a:txBody>
                    <a:bodyPr/>
                    <a:lstStyle/>
                    <a:p>
                      <a:pPr algn="l"/>
                      <a:r>
                        <a:rPr sz="1350">
                          <a:solidFill>
                            <a:srgbClr val="22272E"/>
                          </a:solidFill>
                        </a:rPr>
                        <a:t>OC-SVM</a:t>
                      </a:r>
                    </a:p>
                  </a:txBody>
                  <a:tcPr anchor="ctr">
                    <a:solidFill>
                      <a:srgbClr val="F4F6F9"/>
                    </a:solidFill>
                  </a:tcPr>
                </a:tc>
                <a:tc>
                  <a:txBody>
                    <a:bodyPr/>
                    <a:lstStyle/>
                    <a:p>
                      <a:pPr algn="ctr"/>
                      <a:r>
                        <a:rPr sz="1350">
                          <a:solidFill>
                            <a:srgbClr val="22272E"/>
                          </a:solidFill>
                        </a:rPr>
                        <a:t>Frontieră</a:t>
                      </a:r>
                    </a:p>
                  </a:txBody>
                  <a:tcPr anchor="ctr">
                    <a:solidFill>
                      <a:srgbClr val="F4F6F9"/>
                    </a:solidFill>
                  </a:tcPr>
                </a:tc>
                <a:tc>
                  <a:txBody>
                    <a:bodyPr/>
                    <a:lstStyle/>
                    <a:p>
                      <a:pPr algn="ctr"/>
                      <a:r>
                        <a:rPr sz="1350">
                          <a:solidFill>
                            <a:srgbClr val="22272E"/>
                          </a:solidFill>
                        </a:rPr>
                        <a:t>0.9354</a:t>
                      </a:r>
                    </a:p>
                  </a:txBody>
                  <a:tcPr anchor="ctr">
                    <a:solidFill>
                      <a:srgbClr val="F4F6F9"/>
                    </a:solidFill>
                  </a:tcPr>
                </a:tc>
                <a:tc>
                  <a:txBody>
                    <a:bodyPr/>
                    <a:lstStyle/>
                    <a:p>
                      <a:pPr algn="ctr"/>
                      <a:r>
                        <a:rPr sz="1350">
                          <a:solidFill>
                            <a:srgbClr val="22272E"/>
                          </a:solidFill>
                        </a:rPr>
                        <a:t>0.5959</a:t>
                      </a:r>
                    </a:p>
                  </a:txBody>
                  <a:tcPr anchor="ctr">
                    <a:solidFill>
                      <a:srgbClr val="F4F6F9"/>
                    </a:solidFill>
                  </a:tcPr>
                </a:tc>
                <a:tc>
                  <a:txBody>
                    <a:bodyPr/>
                    <a:lstStyle/>
                    <a:p>
                      <a:pPr algn="ctr"/>
                      <a:r>
                        <a:rPr sz="1350">
                          <a:solidFill>
                            <a:srgbClr val="22272E"/>
                          </a:solidFill>
                        </a:rPr>
                        <a:t>0.6454</a:t>
                      </a:r>
                    </a:p>
                  </a:txBody>
                  <a:tcPr anchor="ctr">
                    <a:solidFill>
                      <a:srgbClr val="F4F6F9"/>
                    </a:solidFill>
                  </a:tcPr>
                </a:tc>
              </a:tr>
              <a:tr h="502920">
                <a:tc>
                  <a:txBody>
                    <a:bodyPr/>
                    <a:lstStyle/>
                    <a:p>
                      <a:pPr algn="l"/>
                      <a:r>
                        <a:rPr sz="1350">
                          <a:solidFill>
                            <a:srgbClr val="22272E"/>
                          </a:solidFill>
                        </a:rPr>
                        <a:t>Transformer Bottleneck AE</a:t>
                      </a:r>
                    </a:p>
                  </a:txBody>
                  <a:tcPr anchor="ctr">
                    <a:solidFill>
                      <a:srgbClr val="FFFFFF"/>
                    </a:solidFill>
                  </a:tcPr>
                </a:tc>
                <a:tc>
                  <a:txBody>
                    <a:bodyPr/>
                    <a:lstStyle/>
                    <a:p>
                      <a:pPr algn="ctr"/>
                      <a:r>
                        <a:rPr sz="1350">
                          <a:solidFill>
                            <a:srgbClr val="22272E"/>
                          </a:solidFill>
                        </a:rPr>
                        <a:t>Reconstrucție (pseudo-secv.)</a:t>
                      </a:r>
                    </a:p>
                  </a:txBody>
                  <a:tcPr anchor="ctr">
                    <a:solidFill>
                      <a:srgbClr val="FFFFFF"/>
                    </a:solidFill>
                  </a:tcPr>
                </a:tc>
                <a:tc>
                  <a:txBody>
                    <a:bodyPr/>
                    <a:lstStyle/>
                    <a:p>
                      <a:pPr algn="ctr"/>
                      <a:r>
                        <a:rPr sz="1350">
                          <a:solidFill>
                            <a:srgbClr val="22272E"/>
                          </a:solidFill>
                        </a:rPr>
                        <a:t>0.9583</a:t>
                      </a:r>
                    </a:p>
                  </a:txBody>
                  <a:tcPr anchor="ctr">
                    <a:solidFill>
                      <a:srgbClr val="FFFFFF"/>
                    </a:solidFill>
                  </a:tcPr>
                </a:tc>
                <a:tc>
                  <a:txBody>
                    <a:bodyPr/>
                    <a:lstStyle/>
                    <a:p>
                      <a:pPr algn="ctr"/>
                      <a:r>
                        <a:rPr sz="1350">
                          <a:solidFill>
                            <a:srgbClr val="22272E"/>
                          </a:solidFill>
                        </a:rPr>
                        <a:t>0.5947</a:t>
                      </a:r>
                    </a:p>
                  </a:txBody>
                  <a:tcPr anchor="ctr">
                    <a:solidFill>
                      <a:srgbClr val="FFFFFF"/>
                    </a:solidFill>
                  </a:tcPr>
                </a:tc>
                <a:tc>
                  <a:txBody>
                    <a:bodyPr/>
                    <a:lstStyle/>
                    <a:p>
                      <a:pPr algn="ctr"/>
                      <a:r>
                        <a:rPr sz="1350">
                          <a:solidFill>
                            <a:srgbClr val="22272E"/>
                          </a:solidFill>
                        </a:rPr>
                        <a:t>0.6137</a:t>
                      </a:r>
                    </a:p>
                  </a:txBody>
                  <a:tcPr anchor="ctr">
                    <a:solidFill>
                      <a:srgbClr val="FFFFFF"/>
                    </a:solidFill>
                  </a:tcPr>
                </a:tc>
              </a:tr>
              <a:tr h="502920">
                <a:tc>
                  <a:txBody>
                    <a:bodyPr/>
                    <a:lstStyle/>
                    <a:p>
                      <a:pPr algn="l"/>
                      <a:r>
                        <a:rPr sz="1350">
                          <a:solidFill>
                            <a:srgbClr val="22272E"/>
                          </a:solidFill>
                        </a:rPr>
                        <a:t>Predictive LSTM</a:t>
                      </a:r>
                    </a:p>
                  </a:txBody>
                  <a:tcPr anchor="ctr">
                    <a:solidFill>
                      <a:srgbClr val="F4F6F9"/>
                    </a:solidFill>
                  </a:tcPr>
                </a:tc>
                <a:tc>
                  <a:txBody>
                    <a:bodyPr/>
                    <a:lstStyle/>
                    <a:p>
                      <a:pPr algn="ctr"/>
                      <a:r>
                        <a:rPr sz="1350">
                          <a:solidFill>
                            <a:srgbClr val="22272E"/>
                          </a:solidFill>
                        </a:rPr>
                        <a:t>Predictiv (pseudo-secv.)</a:t>
                      </a:r>
                    </a:p>
                  </a:txBody>
                  <a:tcPr anchor="ctr">
                    <a:solidFill>
                      <a:srgbClr val="F4F6F9"/>
                    </a:solidFill>
                  </a:tcPr>
                </a:tc>
                <a:tc>
                  <a:txBody>
                    <a:bodyPr/>
                    <a:lstStyle/>
                    <a:p>
                      <a:pPr algn="ctr"/>
                      <a:r>
                        <a:rPr sz="1350">
                          <a:solidFill>
                            <a:srgbClr val="22272E"/>
                          </a:solidFill>
                        </a:rPr>
                        <a:t>0.9581</a:t>
                      </a:r>
                    </a:p>
                  </a:txBody>
                  <a:tcPr anchor="ctr">
                    <a:solidFill>
                      <a:srgbClr val="F4F6F9"/>
                    </a:solidFill>
                  </a:tcPr>
                </a:tc>
                <a:tc>
                  <a:txBody>
                    <a:bodyPr/>
                    <a:lstStyle/>
                    <a:p>
                      <a:pPr algn="ctr"/>
                      <a:r>
                        <a:rPr sz="1350">
                          <a:solidFill>
                            <a:srgbClr val="22272E"/>
                          </a:solidFill>
                        </a:rPr>
                        <a:t>0.5190</a:t>
                      </a:r>
                    </a:p>
                  </a:txBody>
                  <a:tcPr anchor="ctr">
                    <a:solidFill>
                      <a:srgbClr val="F4F6F9"/>
                    </a:solidFill>
                  </a:tcPr>
                </a:tc>
                <a:tc>
                  <a:txBody>
                    <a:bodyPr/>
                    <a:lstStyle/>
                    <a:p>
                      <a:pPr algn="ctr"/>
                      <a:r>
                        <a:rPr sz="1350">
                          <a:solidFill>
                            <a:srgbClr val="22272E"/>
                          </a:solidFill>
                        </a:rPr>
                        <a:t>0.5244</a:t>
                      </a:r>
                    </a:p>
                  </a:txBody>
                  <a:tcPr anchor="ctr">
                    <a:solidFill>
                      <a:srgbClr val="F4F6F9"/>
                    </a:solidFill>
                  </a:tcPr>
                </a:tc>
              </a:tr>
            </a:tbl>
          </a:graphicData>
        </a:graphic>
      </p:graphicFrame>
      <p:sp>
        <p:nvSpPr>
          <p:cNvPr id="8" name="TextBox 7"/>
          <p:cNvSpPr txBox="1"/>
          <p:nvPr/>
        </p:nvSpPr>
        <p:spPr>
          <a:xfrm>
            <a:off x="502920" y="4892040"/>
            <a:ext cx="11155680" cy="1554480"/>
          </a:xfrm>
          <a:prstGeom prst="rect">
            <a:avLst/>
          </a:prstGeom>
          <a:noFill/>
        </p:spPr>
        <p:txBody>
          <a:bodyPr wrap="square">
            <a:spAutoFit/>
          </a:bodyPr>
          <a:lstStyle/>
          <a:p>
            <a:pPr>
              <a:lnSpc>
                <a:spcPct val="108000"/>
              </a:lnSpc>
              <a:spcAft>
                <a:spcPts val="1000"/>
              </a:spcAft>
            </a:pPr>
            <a:r>
              <a:rPr sz="1500" b="1">
                <a:solidFill>
                  <a:srgbClr val="E07A2C"/>
                </a:solidFill>
                <a:latin typeface="Calibri"/>
              </a:rPr>
              <a:t>▸  </a:t>
            </a:r>
            <a:r>
              <a:rPr sz="1500" b="1">
                <a:solidFill>
                  <a:srgbClr val="22272E"/>
                </a:solidFill>
                <a:latin typeface="Calibri"/>
              </a:rPr>
              <a:t>Nu există secvență autentică în acest set — rândurile sunt independente, Time e eliminat</a:t>
            </a:r>
          </a:p>
          <a:p>
            <a:pPr>
              <a:lnSpc>
                <a:spcPct val="108000"/>
              </a:lnSpc>
              <a:spcAft>
                <a:spcPts val="1000"/>
              </a:spcAft>
            </a:pPr>
            <a:r>
              <a:rPr sz="1500" b="1">
                <a:solidFill>
                  <a:srgbClr val="E07A2C"/>
                </a:solidFill>
                <a:latin typeface="Calibri"/>
              </a:rPr>
              <a:t>▸  </a:t>
            </a:r>
            <a:r>
              <a:rPr sz="1500" b="1">
                <a:solidFill>
                  <a:srgbClr val="22272E"/>
                </a:solidFill>
                <a:latin typeface="Calibri"/>
              </a:rPr>
              <a:t>Reconstrucția domină, dar câștigă varianta care tratează datele ca vector plat (MLP AE) — impunerea unei structuri secvențiale acolo unde nu există e un handicap</a:t>
            </a:r>
          </a:p>
          <a:p>
            <a:pPr>
              <a:lnSpc>
                <a:spcPct val="108000"/>
              </a:lnSpc>
              <a:spcAft>
                <a:spcPts val="1000"/>
              </a:spcAft>
            </a:pPr>
            <a:r>
              <a:rPr sz="1500" b="1">
                <a:solidFill>
                  <a:srgbClr val="E07A2C"/>
                </a:solidFill>
                <a:latin typeface="Calibri"/>
              </a:rPr>
              <a:t>▸  </a:t>
            </a:r>
            <a:r>
              <a:rPr sz="1500" b="1">
                <a:solidFill>
                  <a:srgbClr val="22272E"/>
                </a:solidFill>
                <a:latin typeface="Calibri"/>
              </a:rPr>
              <a:t>Predictive LSTM e cel mai slab: obiectivul de predicție presupune o relație cauzală între pași, dar componentele PCA sunt decorelate prin construcție</a:t>
            </a:r>
          </a:p>
        </p:txBody>
      </p:sp>
      <p:sp>
        <p:nvSpPr>
          <p:cNvPr id="9" name="TextBox 8"/>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§4.1 Detectarea Fraudei cu Cardul de Credit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REZULTATE — SETUL B</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Yahoo Webscope S5</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09</a:t>
            </a:r>
          </a:p>
        </p:txBody>
      </p:sp>
      <p:graphicFrame>
        <p:nvGraphicFramePr>
          <p:cNvPr id="7" name="Table 6"/>
          <p:cNvGraphicFramePr>
            <a:graphicFrameLocks noGrp="1"/>
          </p:cNvGraphicFramePr>
          <p:nvPr/>
        </p:nvGraphicFramePr>
        <p:xfrm>
          <a:off x="502920" y="1371600"/>
          <a:ext cx="11201397" cy="2377440"/>
        </p:xfrm>
        <a:graphic>
          <a:graphicData uri="http://schemas.openxmlformats.org/drawingml/2006/table">
            <a:tbl>
              <a:tblPr firstRow="0" bandRow="0">
                <a:tableStyleId>{5C22544A-7EE6-4342-B048-85BDC9FD1C3A}</a:tableStyleId>
              </a:tblPr>
              <a:tblGrid>
                <a:gridCol w="2826521"/>
                <a:gridCol w="2721835"/>
                <a:gridCol w="2093719"/>
                <a:gridCol w="1570289"/>
                <a:gridCol w="1989033"/>
              </a:tblGrid>
              <a:tr h="594360">
                <a:tc>
                  <a:txBody>
                    <a:bodyPr/>
                    <a:lstStyle/>
                    <a:p>
                      <a:pPr algn="l"/>
                      <a:r>
                        <a:rPr sz="1300" b="1">
                          <a:solidFill>
                            <a:srgbClr val="FFFFFF"/>
                          </a:solidFill>
                        </a:rPr>
                        <a:t>Benchmark</a:t>
                      </a:r>
                    </a:p>
                  </a:txBody>
                  <a:tcPr anchor="ctr">
                    <a:solidFill>
                      <a:srgbClr val="1B2A4A"/>
                    </a:solidFill>
                  </a:tcPr>
                </a:tc>
                <a:tc>
                  <a:txBody>
                    <a:bodyPr/>
                    <a:lstStyle/>
                    <a:p>
                      <a:pPr algn="ctr"/>
                      <a:r>
                        <a:rPr sz="1300" b="1">
                          <a:solidFill>
                            <a:srgbClr val="FFFFFF"/>
                          </a:solidFill>
                        </a:rPr>
                        <a:t>Cel mai bun model</a:t>
                      </a:r>
                    </a:p>
                  </a:txBody>
                  <a:tcPr anchor="ctr">
                    <a:solidFill>
                      <a:srgbClr val="1B2A4A"/>
                    </a:solidFill>
                  </a:tcPr>
                </a:tc>
                <a:tc>
                  <a:txBody>
                    <a:bodyPr/>
                    <a:lstStyle/>
                    <a:p>
                      <a:pPr algn="ctr"/>
                      <a:r>
                        <a:rPr sz="1300" b="1">
                          <a:solidFill>
                            <a:srgbClr val="FFFFFF"/>
                          </a:solidFill>
                        </a:rPr>
                        <a:t>Paradigmă</a:t>
                      </a:r>
                    </a:p>
                  </a:txBody>
                  <a:tcPr anchor="ctr">
                    <a:solidFill>
                      <a:srgbClr val="1B2A4A"/>
                    </a:solidFill>
                  </a:tcPr>
                </a:tc>
                <a:tc>
                  <a:txBody>
                    <a:bodyPr/>
                    <a:lstStyle/>
                    <a:p>
                      <a:pPr algn="ctr"/>
                      <a:r>
                        <a:rPr sz="1300" b="1">
                          <a:solidFill>
                            <a:srgbClr val="FFFFFF"/>
                          </a:solidFill>
                        </a:rPr>
                        <a:t>ROC-AUC</a:t>
                      </a:r>
                    </a:p>
                  </a:txBody>
                  <a:tcPr anchor="ctr">
                    <a:solidFill>
                      <a:srgbClr val="1B2A4A"/>
                    </a:solidFill>
                  </a:tcPr>
                </a:tc>
                <a:tc>
                  <a:txBody>
                    <a:bodyPr/>
                    <a:lstStyle/>
                    <a:p>
                      <a:pPr algn="ctr"/>
                      <a:r>
                        <a:rPr sz="1300" b="1">
                          <a:solidFill>
                            <a:srgbClr val="FFFFFF"/>
                          </a:solidFill>
                        </a:rPr>
                        <a:t>Precizie Medie</a:t>
                      </a:r>
                    </a:p>
                  </a:txBody>
                  <a:tcPr anchor="ctr">
                    <a:solidFill>
                      <a:srgbClr val="1B2A4A"/>
                    </a:solidFill>
                  </a:tcPr>
                </a:tc>
              </a:tr>
              <a:tr h="594360">
                <a:tc>
                  <a:txBody>
                    <a:bodyPr/>
                    <a:lstStyle/>
                    <a:p>
                      <a:pPr algn="l"/>
                      <a:r>
                        <a:rPr sz="1450" b="1">
                          <a:solidFill>
                            <a:srgbClr val="22272E"/>
                          </a:solidFill>
                        </a:rPr>
                        <a:t>A1 — Punctuale</a:t>
                      </a:r>
                    </a:p>
                  </a:txBody>
                  <a:tcPr anchor="ctr">
                    <a:solidFill>
                      <a:srgbClr val="FCE7D2"/>
                    </a:solidFill>
                  </a:tcPr>
                </a:tc>
                <a:tc>
                  <a:txBody>
                    <a:bodyPr/>
                    <a:lstStyle/>
                    <a:p>
                      <a:pPr algn="ctr"/>
                      <a:r>
                        <a:rPr sz="1450" b="1">
                          <a:solidFill>
                            <a:srgbClr val="22272E"/>
                          </a:solidFill>
                        </a:rPr>
                        <a:t>MLP Autoencoder</a:t>
                      </a:r>
                    </a:p>
                  </a:txBody>
                  <a:tcPr anchor="ctr">
                    <a:solidFill>
                      <a:srgbClr val="FCE7D2"/>
                    </a:solidFill>
                  </a:tcPr>
                </a:tc>
                <a:tc>
                  <a:txBody>
                    <a:bodyPr/>
                    <a:lstStyle/>
                    <a:p>
                      <a:pPr algn="ctr"/>
                      <a:r>
                        <a:rPr sz="1450" b="1">
                          <a:solidFill>
                            <a:srgbClr val="22272E"/>
                          </a:solidFill>
                        </a:rPr>
                        <a:t>Reconstrucție</a:t>
                      </a:r>
                    </a:p>
                  </a:txBody>
                  <a:tcPr anchor="ctr">
                    <a:solidFill>
                      <a:srgbClr val="FCE7D2"/>
                    </a:solidFill>
                  </a:tcPr>
                </a:tc>
                <a:tc>
                  <a:txBody>
                    <a:bodyPr/>
                    <a:lstStyle/>
                    <a:p>
                      <a:pPr algn="ctr"/>
                      <a:r>
                        <a:rPr sz="1450" b="1">
                          <a:solidFill>
                            <a:srgbClr val="22272E"/>
                          </a:solidFill>
                        </a:rPr>
                        <a:t>0.792</a:t>
                      </a:r>
                    </a:p>
                  </a:txBody>
                  <a:tcPr anchor="ctr">
                    <a:solidFill>
                      <a:srgbClr val="FCE7D2"/>
                    </a:solidFill>
                  </a:tcPr>
                </a:tc>
                <a:tc>
                  <a:txBody>
                    <a:bodyPr/>
                    <a:lstStyle/>
                    <a:p>
                      <a:pPr algn="ctr"/>
                      <a:r>
                        <a:rPr sz="1450" b="1">
                          <a:solidFill>
                            <a:srgbClr val="22272E"/>
                          </a:solidFill>
                        </a:rPr>
                        <a:t>0.611</a:t>
                      </a:r>
                    </a:p>
                  </a:txBody>
                  <a:tcPr anchor="ctr">
                    <a:solidFill>
                      <a:srgbClr val="FCE7D2"/>
                    </a:solidFill>
                  </a:tcPr>
                </a:tc>
              </a:tr>
              <a:tr h="594360">
                <a:tc>
                  <a:txBody>
                    <a:bodyPr/>
                    <a:lstStyle/>
                    <a:p>
                      <a:pPr algn="l"/>
                      <a:r>
                        <a:rPr sz="1450" b="1">
                          <a:solidFill>
                            <a:srgbClr val="22272E"/>
                          </a:solidFill>
                        </a:rPr>
                        <a:t>A3 — Contextuale/sezoniere</a:t>
                      </a:r>
                    </a:p>
                  </a:txBody>
                  <a:tcPr anchor="ctr">
                    <a:solidFill>
                      <a:srgbClr val="FCE7D2"/>
                    </a:solidFill>
                  </a:tcPr>
                </a:tc>
                <a:tc>
                  <a:txBody>
                    <a:bodyPr/>
                    <a:lstStyle/>
                    <a:p>
                      <a:pPr algn="ctr"/>
                      <a:r>
                        <a:rPr sz="1450" b="1">
                          <a:solidFill>
                            <a:srgbClr val="22272E"/>
                          </a:solidFill>
                        </a:rPr>
                        <a:t>Predictive LSTM</a:t>
                      </a:r>
                    </a:p>
                  </a:txBody>
                  <a:tcPr anchor="ctr">
                    <a:solidFill>
                      <a:srgbClr val="FCE7D2"/>
                    </a:solidFill>
                  </a:tcPr>
                </a:tc>
                <a:tc>
                  <a:txBody>
                    <a:bodyPr/>
                    <a:lstStyle/>
                    <a:p>
                      <a:pPr algn="ctr"/>
                      <a:r>
                        <a:rPr sz="1450" b="1">
                          <a:solidFill>
                            <a:srgbClr val="22272E"/>
                          </a:solidFill>
                        </a:rPr>
                        <a:t>Predictiv</a:t>
                      </a:r>
                    </a:p>
                  </a:txBody>
                  <a:tcPr anchor="ctr">
                    <a:solidFill>
                      <a:srgbClr val="FCE7D2"/>
                    </a:solidFill>
                  </a:tcPr>
                </a:tc>
                <a:tc>
                  <a:txBody>
                    <a:bodyPr/>
                    <a:lstStyle/>
                    <a:p>
                      <a:pPr algn="ctr"/>
                      <a:r>
                        <a:rPr sz="1450" b="1">
                          <a:solidFill>
                            <a:srgbClr val="22272E"/>
                          </a:solidFill>
                        </a:rPr>
                        <a:t>0.868</a:t>
                      </a:r>
                    </a:p>
                  </a:txBody>
                  <a:tcPr anchor="ctr">
                    <a:solidFill>
                      <a:srgbClr val="FCE7D2"/>
                    </a:solidFill>
                  </a:tcPr>
                </a:tc>
                <a:tc>
                  <a:txBody>
                    <a:bodyPr/>
                    <a:lstStyle/>
                    <a:p>
                      <a:pPr algn="ctr"/>
                      <a:r>
                        <a:rPr sz="1450" b="1">
                          <a:solidFill>
                            <a:srgbClr val="22272E"/>
                          </a:solidFill>
                        </a:rPr>
                        <a:t>0.812</a:t>
                      </a:r>
                    </a:p>
                  </a:txBody>
                  <a:tcPr anchor="ctr">
                    <a:solidFill>
                      <a:srgbClr val="FCE7D2"/>
                    </a:solidFill>
                  </a:tcPr>
                </a:tc>
              </a:tr>
              <a:tr h="594360">
                <a:tc>
                  <a:txBody>
                    <a:bodyPr/>
                    <a:lstStyle/>
                    <a:p>
                      <a:pPr algn="l"/>
                      <a:r>
                        <a:rPr sz="1450" b="1">
                          <a:solidFill>
                            <a:srgbClr val="22272E"/>
                          </a:solidFill>
                        </a:rPr>
                        <a:t>A4 — Schimbare-de-nivel</a:t>
                      </a:r>
                    </a:p>
                  </a:txBody>
                  <a:tcPr anchor="ctr">
                    <a:solidFill>
                      <a:srgbClr val="FCE7D2"/>
                    </a:solidFill>
                  </a:tcPr>
                </a:tc>
                <a:tc>
                  <a:txBody>
                    <a:bodyPr/>
                    <a:lstStyle/>
                    <a:p>
                      <a:pPr algn="ctr"/>
                      <a:r>
                        <a:rPr sz="1450" b="1">
                          <a:solidFill>
                            <a:srgbClr val="22272E"/>
                          </a:solidFill>
                        </a:rPr>
                        <a:t>Predictive LSTM</a:t>
                      </a:r>
                    </a:p>
                  </a:txBody>
                  <a:tcPr anchor="ctr">
                    <a:solidFill>
                      <a:srgbClr val="FCE7D2"/>
                    </a:solidFill>
                  </a:tcPr>
                </a:tc>
                <a:tc>
                  <a:txBody>
                    <a:bodyPr/>
                    <a:lstStyle/>
                    <a:p>
                      <a:pPr algn="ctr"/>
                      <a:r>
                        <a:rPr sz="1450" b="1">
                          <a:solidFill>
                            <a:srgbClr val="22272E"/>
                          </a:solidFill>
                        </a:rPr>
                        <a:t>Predictiv</a:t>
                      </a:r>
                    </a:p>
                  </a:txBody>
                  <a:tcPr anchor="ctr">
                    <a:solidFill>
                      <a:srgbClr val="FCE7D2"/>
                    </a:solidFill>
                  </a:tcPr>
                </a:tc>
                <a:tc>
                  <a:txBody>
                    <a:bodyPr/>
                    <a:lstStyle/>
                    <a:p>
                      <a:pPr algn="ctr"/>
                      <a:r>
                        <a:rPr sz="1450" b="1">
                          <a:solidFill>
                            <a:srgbClr val="22272E"/>
                          </a:solidFill>
                        </a:rPr>
                        <a:t>0.745</a:t>
                      </a:r>
                    </a:p>
                  </a:txBody>
                  <a:tcPr anchor="ctr">
                    <a:solidFill>
                      <a:srgbClr val="FCE7D2"/>
                    </a:solidFill>
                  </a:tcPr>
                </a:tc>
                <a:tc>
                  <a:txBody>
                    <a:bodyPr/>
                    <a:lstStyle/>
                    <a:p>
                      <a:pPr algn="ctr"/>
                      <a:r>
                        <a:rPr sz="1450" b="1">
                          <a:solidFill>
                            <a:srgbClr val="22272E"/>
                          </a:solidFill>
                        </a:rPr>
                        <a:t>0.505</a:t>
                      </a:r>
                    </a:p>
                  </a:txBody>
                  <a:tcPr anchor="ctr">
                    <a:solidFill>
                      <a:srgbClr val="FCE7D2"/>
                    </a:solidFill>
                  </a:tcPr>
                </a:tc>
              </a:tr>
            </a:tbl>
          </a:graphicData>
        </a:graphic>
      </p:graphicFrame>
      <p:sp>
        <p:nvSpPr>
          <p:cNvPr id="8" name="TextBox 7"/>
          <p:cNvSpPr txBox="1"/>
          <p:nvPr/>
        </p:nvSpPr>
        <p:spPr>
          <a:xfrm>
            <a:off x="502920" y="3794760"/>
            <a:ext cx="11155680" cy="2560320"/>
          </a:xfrm>
          <a:prstGeom prst="rect">
            <a:avLst/>
          </a:prstGeom>
          <a:noFill/>
        </p:spPr>
        <p:txBody>
          <a:bodyPr wrap="square">
            <a:spAutoFit/>
          </a:bodyPr>
          <a:lstStyle/>
          <a:p>
            <a:pPr>
              <a:lnSpc>
                <a:spcPct val="108000"/>
              </a:lnSpc>
              <a:spcAft>
                <a:spcPts val="1000"/>
              </a:spcAft>
            </a:pPr>
            <a:r>
              <a:rPr sz="1500" b="1">
                <a:solidFill>
                  <a:srgbClr val="E07A2C"/>
                </a:solidFill>
                <a:latin typeface="Calibri"/>
              </a:rPr>
              <a:t>▸  </a:t>
            </a:r>
            <a:r>
              <a:rPr sz="1500" b="0">
                <a:solidFill>
                  <a:srgbClr val="22272E"/>
                </a:solidFill>
                <a:latin typeface="Calibri"/>
              </a:rPr>
              <a:t>A1 (punctuale): toate modelele într-o bandă îngustă (AP 0.51–0.61) — nu e nevoie de înțelegere temporală pentru un vârf izolat</a:t>
            </a:r>
          </a:p>
          <a:p>
            <a:pPr>
              <a:lnSpc>
                <a:spcPct val="108000"/>
              </a:lnSpc>
              <a:spcAft>
                <a:spcPts val="1000"/>
              </a:spcAft>
            </a:pPr>
            <a:r>
              <a:rPr sz="1500" b="1">
                <a:solidFill>
                  <a:srgbClr val="E07A2C"/>
                </a:solidFill>
                <a:latin typeface="Calibri"/>
              </a:rPr>
              <a:t>▸  </a:t>
            </a:r>
            <a:r>
              <a:rPr sz="1500" b="1">
                <a:solidFill>
                  <a:srgbClr val="22272E"/>
                </a:solidFill>
                <a:latin typeface="Calibri"/>
              </a:rPr>
              <a:t>A3 (contextuale): paradigma predictivă domină clar — Predictive LSTM exploatează direct predictibilitatea seriei sezoniere; modelele clasice (IForest, OC-SVM) se prăbușesc aproape la random</a:t>
            </a:r>
          </a:p>
          <a:p>
            <a:pPr>
              <a:lnSpc>
                <a:spcPct val="108000"/>
              </a:lnSpc>
              <a:spcAft>
                <a:spcPts val="1000"/>
              </a:spcAft>
            </a:pPr>
            <a:r>
              <a:rPr sz="1500" b="1">
                <a:solidFill>
                  <a:srgbClr val="E07A2C"/>
                </a:solidFill>
                <a:latin typeface="Calibri"/>
              </a:rPr>
              <a:t>▸  </a:t>
            </a:r>
            <a:r>
              <a:rPr sz="1500" b="0">
                <a:solidFill>
                  <a:srgbClr val="22272E"/>
                </a:solidFill>
                <a:latin typeface="Calibri"/>
              </a:rPr>
              <a:t>A4 (schimbare de nivel): fiecare model se degradează, dar Predictive LSTM încă conduce</a:t>
            </a:r>
          </a:p>
        </p:txBody>
      </p:sp>
      <p:sp>
        <p:nvSpPr>
          <p:cNvPr id="9" name="TextBox 8"/>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§4.2 Yahoo Webscope S5 (Setul de Date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REZULTATE — SETUL B</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A3: Transformer domină arhitecturile de reconstrucție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10</a:t>
            </a:r>
          </a:p>
        </p:txBody>
      </p:sp>
      <p:graphicFrame>
        <p:nvGraphicFramePr>
          <p:cNvPr id="7" name="Table 6"/>
          <p:cNvGraphicFramePr>
            <a:graphicFrameLocks noGrp="1"/>
          </p:cNvGraphicFramePr>
          <p:nvPr/>
        </p:nvGraphicFramePr>
        <p:xfrm>
          <a:off x="502920" y="1645920"/>
          <a:ext cx="11201397" cy="2057400"/>
        </p:xfrm>
        <a:graphic>
          <a:graphicData uri="http://schemas.openxmlformats.org/drawingml/2006/table">
            <a:tbl>
              <a:tblPr firstRow="0" bandRow="0">
                <a:tableStyleId>{5C22544A-7EE6-4342-B048-85BDC9FD1C3A}</a:tableStyleId>
              </a:tblPr>
              <a:tblGrid>
                <a:gridCol w="3806300"/>
                <a:gridCol w="3262543"/>
                <a:gridCol w="2066277"/>
                <a:gridCol w="2066277"/>
              </a:tblGrid>
              <a:tr h="685800">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Paradigmă</a:t>
                      </a:r>
                    </a:p>
                  </a:txBody>
                  <a:tcPr anchor="ctr">
                    <a:solidFill>
                      <a:srgbClr val="1B2A4A"/>
                    </a:solidFill>
                  </a:tcPr>
                </a:tc>
                <a:tc>
                  <a:txBody>
                    <a:bodyPr/>
                    <a:lstStyle/>
                    <a:p>
                      <a:pPr algn="ctr"/>
                      <a:r>
                        <a:rPr sz="1300" b="1">
                          <a:solidFill>
                            <a:srgbClr val="FFFFFF"/>
                          </a:solidFill>
                        </a:rPr>
                        <a:t>ROC-AUC</a:t>
                      </a:r>
                    </a:p>
                  </a:txBody>
                  <a:tcPr anchor="ctr">
                    <a:solidFill>
                      <a:srgbClr val="1B2A4A"/>
                    </a:solidFill>
                  </a:tcPr>
                </a:tc>
                <a:tc>
                  <a:txBody>
                    <a:bodyPr/>
                    <a:lstStyle/>
                    <a:p>
                      <a:pPr algn="ctr"/>
                      <a:r>
                        <a:rPr sz="1300" b="1">
                          <a:solidFill>
                            <a:srgbClr val="FFFFFF"/>
                          </a:solidFill>
                        </a:rPr>
                        <a:t>Precizie Medie</a:t>
                      </a:r>
                    </a:p>
                  </a:txBody>
                  <a:tcPr anchor="ctr">
                    <a:solidFill>
                      <a:srgbClr val="1B2A4A"/>
                    </a:solidFill>
                  </a:tcPr>
                </a:tc>
              </a:tr>
              <a:tr h="685800">
                <a:tc>
                  <a:txBody>
                    <a:bodyPr/>
                    <a:lstStyle/>
                    <a:p>
                      <a:pPr algn="l"/>
                      <a:r>
                        <a:rPr sz="1600" b="1">
                          <a:solidFill>
                            <a:srgbClr val="22272E"/>
                          </a:solidFill>
                        </a:rPr>
                        <a:t>Transformer Bottleneck AE</a:t>
                      </a:r>
                    </a:p>
                  </a:txBody>
                  <a:tcPr anchor="ctr">
                    <a:solidFill>
                      <a:srgbClr val="FCE7D2"/>
                    </a:solidFill>
                  </a:tcPr>
                </a:tc>
                <a:tc>
                  <a:txBody>
                    <a:bodyPr/>
                    <a:lstStyle/>
                    <a:p>
                      <a:pPr algn="ctr"/>
                      <a:r>
                        <a:rPr sz="1600" b="1">
                          <a:solidFill>
                            <a:srgbClr val="22272E"/>
                          </a:solidFill>
                        </a:rPr>
                        <a:t>Reconstrucție</a:t>
                      </a:r>
                    </a:p>
                  </a:txBody>
                  <a:tcPr anchor="ctr">
                    <a:solidFill>
                      <a:srgbClr val="FCE7D2"/>
                    </a:solidFill>
                  </a:tcPr>
                </a:tc>
                <a:tc>
                  <a:txBody>
                    <a:bodyPr/>
                    <a:lstStyle/>
                    <a:p>
                      <a:pPr algn="ctr"/>
                      <a:r>
                        <a:rPr sz="1600" b="1">
                          <a:solidFill>
                            <a:srgbClr val="22272E"/>
                          </a:solidFill>
                        </a:rPr>
                        <a:t>0.762</a:t>
                      </a:r>
                    </a:p>
                  </a:txBody>
                  <a:tcPr anchor="ctr">
                    <a:solidFill>
                      <a:srgbClr val="FCE7D2"/>
                    </a:solidFill>
                  </a:tcPr>
                </a:tc>
                <a:tc>
                  <a:txBody>
                    <a:bodyPr/>
                    <a:lstStyle/>
                    <a:p>
                      <a:pPr algn="ctr"/>
                      <a:r>
                        <a:rPr sz="1600" b="1">
                          <a:solidFill>
                            <a:srgbClr val="22272E"/>
                          </a:solidFill>
                        </a:rPr>
                        <a:t>0.663</a:t>
                      </a:r>
                    </a:p>
                  </a:txBody>
                  <a:tcPr anchor="ctr">
                    <a:solidFill>
                      <a:srgbClr val="FCE7D2"/>
                    </a:solidFill>
                  </a:tcPr>
                </a:tc>
              </a:tr>
              <a:tr h="685800">
                <a:tc>
                  <a:txBody>
                    <a:bodyPr/>
                    <a:lstStyle/>
                    <a:p>
                      <a:pPr algn="l"/>
                      <a:r>
                        <a:rPr sz="1600">
                          <a:solidFill>
                            <a:srgbClr val="22272E"/>
                          </a:solidFill>
                        </a:rPr>
                        <a:t>LSTM Autoencoder</a:t>
                      </a:r>
                    </a:p>
                  </a:txBody>
                  <a:tcPr anchor="ctr">
                    <a:solidFill>
                      <a:srgbClr val="F4F6F9"/>
                    </a:solidFill>
                  </a:tcPr>
                </a:tc>
                <a:tc>
                  <a:txBody>
                    <a:bodyPr/>
                    <a:lstStyle/>
                    <a:p>
                      <a:pPr algn="ctr"/>
                      <a:r>
                        <a:rPr sz="1600">
                          <a:solidFill>
                            <a:srgbClr val="22272E"/>
                          </a:solidFill>
                        </a:rPr>
                        <a:t>Reconstrucție (pseudo-secv.)</a:t>
                      </a:r>
                    </a:p>
                  </a:txBody>
                  <a:tcPr anchor="ctr">
                    <a:solidFill>
                      <a:srgbClr val="F4F6F9"/>
                    </a:solidFill>
                  </a:tcPr>
                </a:tc>
                <a:tc>
                  <a:txBody>
                    <a:bodyPr/>
                    <a:lstStyle/>
                    <a:p>
                      <a:pPr algn="ctr"/>
                      <a:r>
                        <a:rPr sz="1600">
                          <a:solidFill>
                            <a:srgbClr val="22272E"/>
                          </a:solidFill>
                        </a:rPr>
                        <a:t>0.566</a:t>
                      </a:r>
                    </a:p>
                  </a:txBody>
                  <a:tcPr anchor="ctr">
                    <a:solidFill>
                      <a:srgbClr val="F4F6F9"/>
                    </a:solidFill>
                  </a:tcPr>
                </a:tc>
                <a:tc>
                  <a:txBody>
                    <a:bodyPr/>
                    <a:lstStyle/>
                    <a:p>
                      <a:pPr algn="ctr"/>
                      <a:r>
                        <a:rPr sz="1600">
                          <a:solidFill>
                            <a:srgbClr val="22272E"/>
                          </a:solidFill>
                        </a:rPr>
                        <a:t>0.392</a:t>
                      </a:r>
                    </a:p>
                  </a:txBody>
                  <a:tcPr anchor="ctr">
                    <a:solidFill>
                      <a:srgbClr val="F4F6F9"/>
                    </a:solidFill>
                  </a:tcPr>
                </a:tc>
              </a:tr>
            </a:tbl>
          </a:graphicData>
        </a:graphic>
      </p:graphicFrame>
      <p:sp>
        <p:nvSpPr>
          <p:cNvPr id="8" name="Rectangle 7"/>
          <p:cNvSpPr/>
          <p:nvPr/>
        </p:nvSpPr>
        <p:spPr>
          <a:xfrm>
            <a:off x="502920" y="3657600"/>
            <a:ext cx="11201400" cy="2011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3657600"/>
            <a:ext cx="76200" cy="201168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86200"/>
            <a:ext cx="10698480" cy="1554480"/>
          </a:xfrm>
          <a:prstGeom prst="rect">
            <a:avLst/>
          </a:prstGeom>
          <a:noFill/>
        </p:spPr>
        <p:txBody>
          <a:bodyPr wrap="square" anchor="t">
            <a:spAutoFit/>
          </a:bodyPr>
          <a:lstStyle/>
          <a:p>
            <a:pPr algn="l">
              <a:lnSpc>
                <a:spcPct val="135000"/>
              </a:lnSpc>
            </a:pPr>
            <a:r>
              <a:rPr sz="1700" b="0" i="0">
                <a:solidFill>
                  <a:srgbClr val="22272E"/>
                </a:solidFill>
                <a:latin typeface="Calibri"/>
              </a:rPr>
              <a:t>Ambele sunt autoencodere cu bottleneck, dar diferă fundamental în cum comprimă fereastra:</a:t>
            </a:r>
          </a:p>
          <a:p>
            <a:pPr algn="l">
              <a:lnSpc>
                <a:spcPct val="135000"/>
              </a:lnSpc>
            </a:pPr>
            <a:r>
              <a:rPr sz="1700" b="0" i="0">
                <a:solidFill>
                  <a:srgbClr val="22272E"/>
                </a:solidFill>
                <a:latin typeface="Calibri"/>
              </a:rPr>
              <a:t>auto-atenția globală a Transformer-ului asupra întregii ferestre recuperează probabil periodicitatea sezonieră pe care blocajul recurent al LSTM AE o distruge — ceea ce probabil explică diferența.</a:t>
            </a:r>
          </a:p>
        </p:txBody>
      </p:sp>
      <p:sp>
        <p:nvSpPr>
          <p:cNvPr id="11" name="TextBox 10"/>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§4.2.2 A3 — Anomalii Contextuale/Sezoniere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REZULTATE — SETUL C</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CIC-IDS2017 — flux de rețea</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11</a:t>
            </a:r>
          </a:p>
        </p:txBody>
      </p:sp>
      <p:graphicFrame>
        <p:nvGraphicFramePr>
          <p:cNvPr id="7" name="Table 6"/>
          <p:cNvGraphicFramePr>
            <a:graphicFrameLocks noGrp="1"/>
          </p:cNvGraphicFramePr>
          <p:nvPr/>
        </p:nvGraphicFramePr>
        <p:xfrm>
          <a:off x="502920" y="1325880"/>
          <a:ext cx="11201397" cy="3200400"/>
        </p:xfrm>
        <a:graphic>
          <a:graphicData uri="http://schemas.openxmlformats.org/drawingml/2006/table">
            <a:tbl>
              <a:tblPr firstRow="0" bandRow="0">
                <a:tableStyleId>{5C22544A-7EE6-4342-B048-85BDC9FD1C3A}</a:tableStyleId>
              </a:tblPr>
              <a:tblGrid>
                <a:gridCol w="2261821"/>
                <a:gridCol w="1723292"/>
                <a:gridCol w="2369526"/>
                <a:gridCol w="1507880"/>
                <a:gridCol w="1938703"/>
                <a:gridCol w="1400175"/>
              </a:tblGrid>
              <a:tr h="457200">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Set caracteristici</a:t>
                      </a:r>
                    </a:p>
                  </a:txBody>
                  <a:tcPr anchor="ctr">
                    <a:solidFill>
                      <a:srgbClr val="1B2A4A"/>
                    </a:solidFill>
                  </a:tcPr>
                </a:tc>
                <a:tc>
                  <a:txBody>
                    <a:bodyPr/>
                    <a:lstStyle/>
                    <a:p>
                      <a:pPr algn="ctr"/>
                      <a:r>
                        <a:rPr sz="1300" b="1">
                          <a:solidFill>
                            <a:srgbClr val="FFFFFF"/>
                          </a:solidFill>
                        </a:rPr>
                        <a:t>Paradigmă</a:t>
                      </a:r>
                    </a:p>
                  </a:txBody>
                  <a:tcPr anchor="ctr">
                    <a:solidFill>
                      <a:srgbClr val="1B2A4A"/>
                    </a:solidFill>
                  </a:tcPr>
                </a:tc>
                <a:tc>
                  <a:txBody>
                    <a:bodyPr/>
                    <a:lstStyle/>
                    <a:p>
                      <a:pPr algn="ctr"/>
                      <a:r>
                        <a:rPr sz="1300" b="1">
                          <a:solidFill>
                            <a:srgbClr val="FFFFFF"/>
                          </a:solidFill>
                        </a:rPr>
                        <a:t>ROC-AUC</a:t>
                      </a:r>
                    </a:p>
                  </a:txBody>
                  <a:tcPr anchor="ctr">
                    <a:solidFill>
                      <a:srgbClr val="1B2A4A"/>
                    </a:solidFill>
                  </a:tcPr>
                </a:tc>
                <a:tc>
                  <a:txBody>
                    <a:bodyPr/>
                    <a:lstStyle/>
                    <a:p>
                      <a:pPr algn="ctr"/>
                      <a:r>
                        <a:rPr sz="1300" b="1">
                          <a:solidFill>
                            <a:srgbClr val="FFFFFF"/>
                          </a:solidFill>
                        </a:rPr>
                        <a:t>Precizie Medie</a:t>
                      </a:r>
                    </a:p>
                  </a:txBody>
                  <a:tcPr anchor="ctr">
                    <a:solidFill>
                      <a:srgbClr val="1B2A4A"/>
                    </a:solidFill>
                  </a:tcPr>
                </a:tc>
                <a:tc>
                  <a:txBody>
                    <a:bodyPr/>
                    <a:lstStyle/>
                    <a:p>
                      <a:pPr algn="ctr"/>
                      <a:r>
                        <a:rPr sz="1300" b="1">
                          <a:solidFill>
                            <a:srgbClr val="FFFFFF"/>
                          </a:solidFill>
                        </a:rPr>
                        <a:t>F1 (atac)</a:t>
                      </a:r>
                    </a:p>
                  </a:txBody>
                  <a:tcPr anchor="ctr">
                    <a:solidFill>
                      <a:srgbClr val="1B2A4A"/>
                    </a:solidFill>
                  </a:tcPr>
                </a:tc>
              </a:tr>
              <a:tr h="457200">
                <a:tc>
                  <a:txBody>
                    <a:bodyPr/>
                    <a:lstStyle/>
                    <a:p>
                      <a:pPr algn="l"/>
                      <a:r>
                        <a:rPr sz="1250" b="1">
                          <a:solidFill>
                            <a:srgbClr val="22272E"/>
                          </a:solidFill>
                        </a:rPr>
                        <a:t>MLP Autoencoder</a:t>
                      </a:r>
                    </a:p>
                  </a:txBody>
                  <a:tcPr anchor="ctr">
                    <a:solidFill>
                      <a:srgbClr val="FCE7D2"/>
                    </a:solidFill>
                  </a:tcPr>
                </a:tc>
                <a:tc>
                  <a:txBody>
                    <a:bodyPr/>
                    <a:lstStyle/>
                    <a:p>
                      <a:pPr algn="ctr"/>
                      <a:r>
                        <a:rPr sz="1250" b="1">
                          <a:solidFill>
                            <a:srgbClr val="22272E"/>
                          </a:solidFill>
                        </a:rPr>
                        <a:t>Context</a:t>
                      </a:r>
                    </a:p>
                  </a:txBody>
                  <a:tcPr anchor="ctr">
                    <a:solidFill>
                      <a:srgbClr val="FCE7D2"/>
                    </a:solidFill>
                  </a:tcPr>
                </a:tc>
                <a:tc>
                  <a:txBody>
                    <a:bodyPr/>
                    <a:lstStyle/>
                    <a:p>
                      <a:pPr algn="ctr"/>
                      <a:r>
                        <a:rPr sz="1250" b="1">
                          <a:solidFill>
                            <a:srgbClr val="22272E"/>
                          </a:solidFill>
                        </a:rPr>
                        <a:t>Reconstrucție</a:t>
                      </a:r>
                    </a:p>
                  </a:txBody>
                  <a:tcPr anchor="ctr">
                    <a:solidFill>
                      <a:srgbClr val="FCE7D2"/>
                    </a:solidFill>
                  </a:tcPr>
                </a:tc>
                <a:tc>
                  <a:txBody>
                    <a:bodyPr/>
                    <a:lstStyle/>
                    <a:p>
                      <a:pPr algn="ctr"/>
                      <a:r>
                        <a:rPr sz="1250" b="1">
                          <a:solidFill>
                            <a:srgbClr val="22272E"/>
                          </a:solidFill>
                        </a:rPr>
                        <a:t>0.9860</a:t>
                      </a:r>
                    </a:p>
                  </a:txBody>
                  <a:tcPr anchor="ctr">
                    <a:solidFill>
                      <a:srgbClr val="FCE7D2"/>
                    </a:solidFill>
                  </a:tcPr>
                </a:tc>
                <a:tc>
                  <a:txBody>
                    <a:bodyPr/>
                    <a:lstStyle/>
                    <a:p>
                      <a:pPr algn="ctr"/>
                      <a:r>
                        <a:rPr sz="1250" b="1">
                          <a:solidFill>
                            <a:srgbClr val="22272E"/>
                          </a:solidFill>
                        </a:rPr>
                        <a:t>0.9487</a:t>
                      </a:r>
                    </a:p>
                  </a:txBody>
                  <a:tcPr anchor="ctr">
                    <a:solidFill>
                      <a:srgbClr val="FCE7D2"/>
                    </a:solidFill>
                  </a:tcPr>
                </a:tc>
                <a:tc>
                  <a:txBody>
                    <a:bodyPr/>
                    <a:lstStyle/>
                    <a:p>
                      <a:pPr algn="ctr"/>
                      <a:r>
                        <a:rPr sz="1250" b="1">
                          <a:solidFill>
                            <a:srgbClr val="22272E"/>
                          </a:solidFill>
                        </a:rPr>
                        <a:t>0.9020</a:t>
                      </a:r>
                    </a:p>
                  </a:txBody>
                  <a:tcPr anchor="ctr">
                    <a:solidFill>
                      <a:srgbClr val="FCE7D2"/>
                    </a:solidFill>
                  </a:tcPr>
                </a:tc>
              </a:tr>
              <a:tr h="457200">
                <a:tc>
                  <a:txBody>
                    <a:bodyPr/>
                    <a:lstStyle/>
                    <a:p>
                      <a:pPr algn="l"/>
                      <a:r>
                        <a:rPr sz="1250" b="1">
                          <a:solidFill>
                            <a:srgbClr val="22272E"/>
                          </a:solidFill>
                        </a:rPr>
                        <a:t>OC-SVM</a:t>
                      </a:r>
                    </a:p>
                  </a:txBody>
                  <a:tcPr anchor="ctr">
                    <a:solidFill>
                      <a:srgbClr val="FCE7D2"/>
                    </a:solidFill>
                  </a:tcPr>
                </a:tc>
                <a:tc>
                  <a:txBody>
                    <a:bodyPr/>
                    <a:lstStyle/>
                    <a:p>
                      <a:pPr algn="ctr"/>
                      <a:r>
                        <a:rPr sz="1250" b="1">
                          <a:solidFill>
                            <a:srgbClr val="22272E"/>
                          </a:solidFill>
                        </a:rPr>
                        <a:t>Context</a:t>
                      </a:r>
                    </a:p>
                  </a:txBody>
                  <a:tcPr anchor="ctr">
                    <a:solidFill>
                      <a:srgbClr val="FCE7D2"/>
                    </a:solidFill>
                  </a:tcPr>
                </a:tc>
                <a:tc>
                  <a:txBody>
                    <a:bodyPr/>
                    <a:lstStyle/>
                    <a:p>
                      <a:pPr algn="ctr"/>
                      <a:r>
                        <a:rPr sz="1250" b="1">
                          <a:solidFill>
                            <a:srgbClr val="22272E"/>
                          </a:solidFill>
                        </a:rPr>
                        <a:t>Frontieră</a:t>
                      </a:r>
                    </a:p>
                  </a:txBody>
                  <a:tcPr anchor="ctr">
                    <a:solidFill>
                      <a:srgbClr val="FCE7D2"/>
                    </a:solidFill>
                  </a:tcPr>
                </a:tc>
                <a:tc>
                  <a:txBody>
                    <a:bodyPr/>
                    <a:lstStyle/>
                    <a:p>
                      <a:pPr algn="ctr"/>
                      <a:r>
                        <a:rPr sz="1250" b="1">
                          <a:solidFill>
                            <a:srgbClr val="22272E"/>
                          </a:solidFill>
                        </a:rPr>
                        <a:t>0.9745</a:t>
                      </a:r>
                    </a:p>
                  </a:txBody>
                  <a:tcPr anchor="ctr">
                    <a:solidFill>
                      <a:srgbClr val="FCE7D2"/>
                    </a:solidFill>
                  </a:tcPr>
                </a:tc>
                <a:tc>
                  <a:txBody>
                    <a:bodyPr/>
                    <a:lstStyle/>
                    <a:p>
                      <a:pPr algn="ctr"/>
                      <a:r>
                        <a:rPr sz="1250" b="1">
                          <a:solidFill>
                            <a:srgbClr val="22272E"/>
                          </a:solidFill>
                        </a:rPr>
                        <a:t>0.9396</a:t>
                      </a:r>
                    </a:p>
                  </a:txBody>
                  <a:tcPr anchor="ctr">
                    <a:solidFill>
                      <a:srgbClr val="FCE7D2"/>
                    </a:solidFill>
                  </a:tcPr>
                </a:tc>
                <a:tc>
                  <a:txBody>
                    <a:bodyPr/>
                    <a:lstStyle/>
                    <a:p>
                      <a:pPr algn="ctr"/>
                      <a:r>
                        <a:rPr sz="1250" b="1">
                          <a:solidFill>
                            <a:srgbClr val="22272E"/>
                          </a:solidFill>
                        </a:rPr>
                        <a:t>0.9229</a:t>
                      </a:r>
                    </a:p>
                  </a:txBody>
                  <a:tcPr anchor="ctr">
                    <a:solidFill>
                      <a:srgbClr val="FCE7D2"/>
                    </a:solidFill>
                  </a:tcPr>
                </a:tc>
              </a:tr>
              <a:tr h="457200">
                <a:tc>
                  <a:txBody>
                    <a:bodyPr/>
                    <a:lstStyle/>
                    <a:p>
                      <a:pPr algn="l"/>
                      <a:r>
                        <a:rPr sz="1250" b="1">
                          <a:solidFill>
                            <a:srgbClr val="22272E"/>
                          </a:solidFill>
                        </a:rPr>
                        <a:t>Isolation Forest</a:t>
                      </a:r>
                    </a:p>
                  </a:txBody>
                  <a:tcPr anchor="ctr">
                    <a:solidFill>
                      <a:srgbClr val="FCE7D2"/>
                    </a:solidFill>
                  </a:tcPr>
                </a:tc>
                <a:tc>
                  <a:txBody>
                    <a:bodyPr/>
                    <a:lstStyle/>
                    <a:p>
                      <a:pPr algn="ctr"/>
                      <a:r>
                        <a:rPr sz="1250" b="1">
                          <a:solidFill>
                            <a:srgbClr val="22272E"/>
                          </a:solidFill>
                        </a:rPr>
                        <a:t>Context</a:t>
                      </a:r>
                    </a:p>
                  </a:txBody>
                  <a:tcPr anchor="ctr">
                    <a:solidFill>
                      <a:srgbClr val="FCE7D2"/>
                    </a:solidFill>
                  </a:tcPr>
                </a:tc>
                <a:tc>
                  <a:txBody>
                    <a:bodyPr/>
                    <a:lstStyle/>
                    <a:p>
                      <a:pPr algn="ctr"/>
                      <a:r>
                        <a:rPr sz="1250" b="1">
                          <a:solidFill>
                            <a:srgbClr val="22272E"/>
                          </a:solidFill>
                        </a:rPr>
                        <a:t>Partiționare</a:t>
                      </a:r>
                    </a:p>
                  </a:txBody>
                  <a:tcPr anchor="ctr">
                    <a:solidFill>
                      <a:srgbClr val="FCE7D2"/>
                    </a:solidFill>
                  </a:tcPr>
                </a:tc>
                <a:tc>
                  <a:txBody>
                    <a:bodyPr/>
                    <a:lstStyle/>
                    <a:p>
                      <a:pPr algn="ctr"/>
                      <a:r>
                        <a:rPr sz="1250" b="1">
                          <a:solidFill>
                            <a:srgbClr val="22272E"/>
                          </a:solidFill>
                        </a:rPr>
                        <a:t>0.9785</a:t>
                      </a:r>
                    </a:p>
                  </a:txBody>
                  <a:tcPr anchor="ctr">
                    <a:solidFill>
                      <a:srgbClr val="FCE7D2"/>
                    </a:solidFill>
                  </a:tcPr>
                </a:tc>
                <a:tc>
                  <a:txBody>
                    <a:bodyPr/>
                    <a:lstStyle/>
                    <a:p>
                      <a:pPr algn="ctr"/>
                      <a:r>
                        <a:rPr sz="1250" b="1">
                          <a:solidFill>
                            <a:srgbClr val="22272E"/>
                          </a:solidFill>
                        </a:rPr>
                        <a:t>0.9328</a:t>
                      </a:r>
                    </a:p>
                  </a:txBody>
                  <a:tcPr anchor="ctr">
                    <a:solidFill>
                      <a:srgbClr val="FCE7D2"/>
                    </a:solidFill>
                  </a:tcPr>
                </a:tc>
                <a:tc>
                  <a:txBody>
                    <a:bodyPr/>
                    <a:lstStyle/>
                    <a:p>
                      <a:pPr algn="ctr"/>
                      <a:r>
                        <a:rPr sz="1250" b="1">
                          <a:solidFill>
                            <a:srgbClr val="22272E"/>
                          </a:solidFill>
                        </a:rPr>
                        <a:t>0.8367</a:t>
                      </a:r>
                    </a:p>
                  </a:txBody>
                  <a:tcPr anchor="ctr">
                    <a:solidFill>
                      <a:srgbClr val="FCE7D2"/>
                    </a:solidFill>
                  </a:tcPr>
                </a:tc>
              </a:tr>
              <a:tr h="457200">
                <a:tc>
                  <a:txBody>
                    <a:bodyPr/>
                    <a:lstStyle/>
                    <a:p>
                      <a:pPr algn="l"/>
                      <a:r>
                        <a:rPr sz="1250">
                          <a:solidFill>
                            <a:srgbClr val="22272E"/>
                          </a:solidFill>
                        </a:rPr>
                        <a:t>LSTM Autoencoder</a:t>
                      </a:r>
                    </a:p>
                  </a:txBody>
                  <a:tcPr anchor="ctr">
                    <a:solidFill>
                      <a:srgbClr val="F4F6F9"/>
                    </a:solidFill>
                  </a:tcPr>
                </a:tc>
                <a:tc>
                  <a:txBody>
                    <a:bodyPr/>
                    <a:lstStyle/>
                    <a:p>
                      <a:pPr algn="ctr"/>
                      <a:r>
                        <a:rPr sz="1250">
                          <a:solidFill>
                            <a:srgbClr val="22272E"/>
                          </a:solidFill>
                        </a:rPr>
                        <a:t>Temporal</a:t>
                      </a:r>
                    </a:p>
                  </a:txBody>
                  <a:tcPr anchor="ctr">
                    <a:solidFill>
                      <a:srgbClr val="F4F6F9"/>
                    </a:solidFill>
                  </a:tcPr>
                </a:tc>
                <a:tc>
                  <a:txBody>
                    <a:bodyPr/>
                    <a:lstStyle/>
                    <a:p>
                      <a:pPr algn="ctr"/>
                      <a:r>
                        <a:rPr sz="1250">
                          <a:solidFill>
                            <a:srgbClr val="22272E"/>
                          </a:solidFill>
                        </a:rPr>
                        <a:t>Reconstrucție</a:t>
                      </a:r>
                    </a:p>
                  </a:txBody>
                  <a:tcPr anchor="ctr">
                    <a:solidFill>
                      <a:srgbClr val="F4F6F9"/>
                    </a:solidFill>
                  </a:tcPr>
                </a:tc>
                <a:tc>
                  <a:txBody>
                    <a:bodyPr/>
                    <a:lstStyle/>
                    <a:p>
                      <a:pPr algn="ctr"/>
                      <a:r>
                        <a:rPr sz="1250">
                          <a:solidFill>
                            <a:srgbClr val="22272E"/>
                          </a:solidFill>
                        </a:rPr>
                        <a:t>0.9976</a:t>
                      </a:r>
                    </a:p>
                  </a:txBody>
                  <a:tcPr anchor="ctr">
                    <a:solidFill>
                      <a:srgbClr val="F4F6F9"/>
                    </a:solidFill>
                  </a:tcPr>
                </a:tc>
                <a:tc>
                  <a:txBody>
                    <a:bodyPr/>
                    <a:lstStyle/>
                    <a:p>
                      <a:pPr algn="ctr"/>
                      <a:r>
                        <a:rPr sz="1250">
                          <a:solidFill>
                            <a:srgbClr val="22272E"/>
                          </a:solidFill>
                        </a:rPr>
                        <a:t>0.7955</a:t>
                      </a:r>
                    </a:p>
                  </a:txBody>
                  <a:tcPr anchor="ctr">
                    <a:solidFill>
                      <a:srgbClr val="F4F6F9"/>
                    </a:solidFill>
                  </a:tcPr>
                </a:tc>
                <a:tc>
                  <a:txBody>
                    <a:bodyPr/>
                    <a:lstStyle/>
                    <a:p>
                      <a:pPr algn="ctr"/>
                      <a:r>
                        <a:rPr sz="1250">
                          <a:solidFill>
                            <a:srgbClr val="22272E"/>
                          </a:solidFill>
                        </a:rPr>
                        <a:t>0.6249</a:t>
                      </a:r>
                    </a:p>
                  </a:txBody>
                  <a:tcPr anchor="ctr">
                    <a:solidFill>
                      <a:srgbClr val="F4F6F9"/>
                    </a:solidFill>
                  </a:tcPr>
                </a:tc>
              </a:tr>
              <a:tr h="457200">
                <a:tc>
                  <a:txBody>
                    <a:bodyPr/>
                    <a:lstStyle/>
                    <a:p>
                      <a:pPr algn="l"/>
                      <a:r>
                        <a:rPr sz="1250">
                          <a:solidFill>
                            <a:srgbClr val="22272E"/>
                          </a:solidFill>
                        </a:rPr>
                        <a:t>MLP Autoencoder</a:t>
                      </a:r>
                    </a:p>
                  </a:txBody>
                  <a:tcPr anchor="ctr">
                    <a:solidFill>
                      <a:srgbClr val="FFFFFF"/>
                    </a:solidFill>
                  </a:tcPr>
                </a:tc>
                <a:tc>
                  <a:txBody>
                    <a:bodyPr/>
                    <a:lstStyle/>
                    <a:p>
                      <a:pPr algn="ctr"/>
                      <a:r>
                        <a:rPr sz="1250">
                          <a:solidFill>
                            <a:srgbClr val="22272E"/>
                          </a:solidFill>
                        </a:rPr>
                        <a:t>Flat</a:t>
                      </a:r>
                    </a:p>
                  </a:txBody>
                  <a:tcPr anchor="ctr">
                    <a:solidFill>
                      <a:srgbClr val="FFFFFF"/>
                    </a:solidFill>
                  </a:tcPr>
                </a:tc>
                <a:tc>
                  <a:txBody>
                    <a:bodyPr/>
                    <a:lstStyle/>
                    <a:p>
                      <a:pPr algn="ctr"/>
                      <a:r>
                        <a:rPr sz="1250">
                          <a:solidFill>
                            <a:srgbClr val="22272E"/>
                          </a:solidFill>
                        </a:rPr>
                        <a:t>Reconstrucție</a:t>
                      </a:r>
                    </a:p>
                  </a:txBody>
                  <a:tcPr anchor="ctr">
                    <a:solidFill>
                      <a:srgbClr val="FFFFFF"/>
                    </a:solidFill>
                  </a:tcPr>
                </a:tc>
                <a:tc>
                  <a:txBody>
                    <a:bodyPr/>
                    <a:lstStyle/>
                    <a:p>
                      <a:pPr algn="ctr"/>
                      <a:r>
                        <a:rPr sz="1250">
                          <a:solidFill>
                            <a:srgbClr val="22272E"/>
                          </a:solidFill>
                        </a:rPr>
                        <a:t>0.9189</a:t>
                      </a:r>
                    </a:p>
                  </a:txBody>
                  <a:tcPr anchor="ctr">
                    <a:solidFill>
                      <a:srgbClr val="FFFFFF"/>
                    </a:solidFill>
                  </a:tcPr>
                </a:tc>
                <a:tc>
                  <a:txBody>
                    <a:bodyPr/>
                    <a:lstStyle/>
                    <a:p>
                      <a:pPr algn="ctr"/>
                      <a:r>
                        <a:rPr sz="1250">
                          <a:solidFill>
                            <a:srgbClr val="22272E"/>
                          </a:solidFill>
                        </a:rPr>
                        <a:t>0.7921</a:t>
                      </a:r>
                    </a:p>
                  </a:txBody>
                  <a:tcPr anchor="ctr">
                    <a:solidFill>
                      <a:srgbClr val="FFFFFF"/>
                    </a:solidFill>
                  </a:tcPr>
                </a:tc>
                <a:tc>
                  <a:txBody>
                    <a:bodyPr/>
                    <a:lstStyle/>
                    <a:p>
                      <a:pPr algn="ctr"/>
                      <a:r>
                        <a:rPr sz="1250">
                          <a:solidFill>
                            <a:srgbClr val="22272E"/>
                          </a:solidFill>
                        </a:rPr>
                        <a:t>0.8022</a:t>
                      </a:r>
                    </a:p>
                  </a:txBody>
                  <a:tcPr anchor="ctr">
                    <a:solidFill>
                      <a:srgbClr val="FFFFFF"/>
                    </a:solidFill>
                  </a:tcPr>
                </a:tc>
              </a:tr>
              <a:tr h="457200">
                <a:tc>
                  <a:txBody>
                    <a:bodyPr/>
                    <a:lstStyle/>
                    <a:p>
                      <a:pPr algn="l"/>
                      <a:r>
                        <a:rPr sz="1250">
                          <a:solidFill>
                            <a:srgbClr val="22272E"/>
                          </a:solidFill>
                        </a:rPr>
                        <a:t>Isolation Forest</a:t>
                      </a:r>
                    </a:p>
                  </a:txBody>
                  <a:tcPr anchor="ctr">
                    <a:solidFill>
                      <a:srgbClr val="F4F6F9"/>
                    </a:solidFill>
                  </a:tcPr>
                </a:tc>
                <a:tc>
                  <a:txBody>
                    <a:bodyPr/>
                    <a:lstStyle/>
                    <a:p>
                      <a:pPr algn="ctr"/>
                      <a:r>
                        <a:rPr sz="1250">
                          <a:solidFill>
                            <a:srgbClr val="22272E"/>
                          </a:solidFill>
                        </a:rPr>
                        <a:t>Flat</a:t>
                      </a:r>
                    </a:p>
                  </a:txBody>
                  <a:tcPr anchor="ctr">
                    <a:solidFill>
                      <a:srgbClr val="F4F6F9"/>
                    </a:solidFill>
                  </a:tcPr>
                </a:tc>
                <a:tc>
                  <a:txBody>
                    <a:bodyPr/>
                    <a:lstStyle/>
                    <a:p>
                      <a:pPr algn="ctr"/>
                      <a:r>
                        <a:rPr sz="1250">
                          <a:solidFill>
                            <a:srgbClr val="22272E"/>
                          </a:solidFill>
                        </a:rPr>
                        <a:t>Partiționare</a:t>
                      </a:r>
                    </a:p>
                  </a:txBody>
                  <a:tcPr anchor="ctr">
                    <a:solidFill>
                      <a:srgbClr val="F4F6F9"/>
                    </a:solidFill>
                  </a:tcPr>
                </a:tc>
                <a:tc>
                  <a:txBody>
                    <a:bodyPr/>
                    <a:lstStyle/>
                    <a:p>
                      <a:pPr algn="ctr"/>
                      <a:r>
                        <a:rPr sz="1250">
                          <a:solidFill>
                            <a:srgbClr val="22272E"/>
                          </a:solidFill>
                        </a:rPr>
                        <a:t>0.9049</a:t>
                      </a:r>
                    </a:p>
                  </a:txBody>
                  <a:tcPr anchor="ctr">
                    <a:solidFill>
                      <a:srgbClr val="F4F6F9"/>
                    </a:solidFill>
                  </a:tcPr>
                </a:tc>
                <a:tc>
                  <a:txBody>
                    <a:bodyPr/>
                    <a:lstStyle/>
                    <a:p>
                      <a:pPr algn="ctr"/>
                      <a:r>
                        <a:rPr sz="1250">
                          <a:solidFill>
                            <a:srgbClr val="22272E"/>
                          </a:solidFill>
                        </a:rPr>
                        <a:t>0.7612</a:t>
                      </a:r>
                    </a:p>
                  </a:txBody>
                  <a:tcPr anchor="ctr">
                    <a:solidFill>
                      <a:srgbClr val="F4F6F9"/>
                    </a:solidFill>
                  </a:tcPr>
                </a:tc>
                <a:tc>
                  <a:txBody>
                    <a:bodyPr/>
                    <a:lstStyle/>
                    <a:p>
                      <a:pPr algn="ctr"/>
                      <a:r>
                        <a:rPr sz="1250">
                          <a:solidFill>
                            <a:srgbClr val="22272E"/>
                          </a:solidFill>
                        </a:rPr>
                        <a:t>0.6639</a:t>
                      </a:r>
                    </a:p>
                  </a:txBody>
                  <a:tcPr anchor="ctr">
                    <a:solidFill>
                      <a:srgbClr val="F4F6F9"/>
                    </a:solidFill>
                  </a:tcPr>
                </a:tc>
              </a:tr>
            </a:tbl>
          </a:graphicData>
        </a:graphic>
      </p:graphicFrame>
      <p:sp>
        <p:nvSpPr>
          <p:cNvPr id="8" name="TextBox 7"/>
          <p:cNvSpPr txBox="1"/>
          <p:nvPr/>
        </p:nvSpPr>
        <p:spPr>
          <a:xfrm>
            <a:off x="502920" y="4617720"/>
            <a:ext cx="11155680" cy="1828800"/>
          </a:xfrm>
          <a:prstGeom prst="rect">
            <a:avLst/>
          </a:prstGeom>
          <a:noFill/>
        </p:spPr>
        <p:txBody>
          <a:bodyPr wrap="square">
            <a:spAutoFit/>
          </a:bodyPr>
          <a:lstStyle/>
          <a:p>
            <a:pPr>
              <a:lnSpc>
                <a:spcPct val="108000"/>
              </a:lnSpc>
              <a:spcAft>
                <a:spcPts val="900"/>
              </a:spcAft>
            </a:pPr>
            <a:r>
              <a:rPr sz="1500" b="1">
                <a:solidFill>
                  <a:srgbClr val="E07A2C"/>
                </a:solidFill>
                <a:latin typeface="Calibri"/>
              </a:rPr>
              <a:t>▸  </a:t>
            </a:r>
            <a:r>
              <a:rPr sz="1500" b="1">
                <a:solidFill>
                  <a:srgbClr val="22272E"/>
                </a:solidFill>
                <a:latin typeface="Calibri"/>
              </a:rPr>
              <a:t>PortScan, DoS Hulk și DDoS reprezintă împreună 95.1% din fluxurile de atac — AP-ul agregat e practic un proxy pentru performanța pe aceste trei clase</a:t>
            </a:r>
          </a:p>
          <a:p>
            <a:pPr>
              <a:lnSpc>
                <a:spcPct val="108000"/>
              </a:lnSpc>
              <a:spcAft>
                <a:spcPts val="900"/>
              </a:spcAft>
            </a:pPr>
            <a:r>
              <a:rPr sz="1500" b="1">
                <a:solidFill>
                  <a:srgbClr val="E07A2C"/>
                </a:solidFill>
                <a:latin typeface="Calibri"/>
              </a:rPr>
              <a:t>▸  </a:t>
            </a:r>
            <a:r>
              <a:rPr sz="1500" b="1">
                <a:solidFill>
                  <a:srgbClr val="22272E"/>
                </a:solidFill>
                <a:latin typeface="Calibri"/>
              </a:rPr>
              <a:t>Caracteristicile de context al gazdei adaugă cel mai mult: +0.157 la +0.255 AP față de vederea plată, depășind orice model fără context</a:t>
            </a:r>
          </a:p>
          <a:p>
            <a:pPr>
              <a:lnSpc>
                <a:spcPct val="108000"/>
              </a:lnSpc>
              <a:spcAft>
                <a:spcPts val="900"/>
              </a:spcAft>
            </a:pPr>
            <a:r>
              <a:rPr sz="1500" b="1">
                <a:solidFill>
                  <a:srgbClr val="E07A2C"/>
                </a:solidFill>
                <a:latin typeface="Calibri"/>
              </a:rPr>
              <a:t>▸  </a:t>
            </a:r>
            <a:r>
              <a:rPr sz="1500" b="1">
                <a:solidFill>
                  <a:srgbClr val="22272E"/>
                </a:solidFill>
                <a:latin typeface="Calibri"/>
              </a:rPr>
              <a:t>Concluzie: alegerea caracteristicilor contează la fel de mult ca alegerea modelului</a:t>
            </a:r>
          </a:p>
        </p:txBody>
      </p:sp>
      <p:sp>
        <p:nvSpPr>
          <p:cNvPr id="9" name="TextBox 8"/>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§4.3 CIC-IDS2017 (Setul de Date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REZULTATE — SETUL C</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Un ansamblu practic: acoperire per clasă</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12</a:t>
            </a:r>
          </a:p>
        </p:txBody>
      </p:sp>
      <p:graphicFrame>
        <p:nvGraphicFramePr>
          <p:cNvPr id="7" name="Table 6"/>
          <p:cNvGraphicFramePr>
            <a:graphicFrameLocks noGrp="1"/>
          </p:cNvGraphicFramePr>
          <p:nvPr/>
        </p:nvGraphicFramePr>
        <p:xfrm>
          <a:off x="502920" y="1645920"/>
          <a:ext cx="11201398" cy="1920240"/>
        </p:xfrm>
        <a:graphic>
          <a:graphicData uri="http://schemas.openxmlformats.org/drawingml/2006/table">
            <a:tbl>
              <a:tblPr firstRow="0" bandRow="0">
                <a:tableStyleId>{5C22544A-7EE6-4342-B048-85BDC9FD1C3A}</a:tableStyleId>
              </a:tblPr>
              <a:tblGrid>
                <a:gridCol w="2747513"/>
                <a:gridCol w="1479430"/>
                <a:gridCol w="1585103"/>
                <a:gridCol w="1690777"/>
                <a:gridCol w="2007798"/>
                <a:gridCol w="1690777"/>
              </a:tblGrid>
              <a:tr h="640080">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DDoS</a:t>
                      </a:r>
                    </a:p>
                  </a:txBody>
                  <a:tcPr anchor="ctr">
                    <a:solidFill>
                      <a:srgbClr val="1B2A4A"/>
                    </a:solidFill>
                  </a:tcPr>
                </a:tc>
                <a:tc>
                  <a:txBody>
                    <a:bodyPr/>
                    <a:lstStyle/>
                    <a:p>
                      <a:pPr algn="ctr"/>
                      <a:r>
                        <a:rPr sz="1300" b="1">
                          <a:solidFill>
                            <a:srgbClr val="FFFFFF"/>
                          </a:solidFill>
                        </a:rPr>
                        <a:t>PortScan</a:t>
                      </a:r>
                    </a:p>
                  </a:txBody>
                  <a:tcPr anchor="ctr">
                    <a:solidFill>
                      <a:srgbClr val="1B2A4A"/>
                    </a:solidFill>
                  </a:tcPr>
                </a:tc>
                <a:tc>
                  <a:txBody>
                    <a:bodyPr/>
                    <a:lstStyle/>
                    <a:p>
                      <a:pPr algn="ctr"/>
                      <a:r>
                        <a:rPr sz="1300" b="1">
                          <a:solidFill>
                            <a:srgbClr val="FFFFFF"/>
                          </a:solidFill>
                        </a:rPr>
                        <a:t>GoldenEye</a:t>
                      </a:r>
                    </a:p>
                  </a:txBody>
                  <a:tcPr anchor="ctr">
                    <a:solidFill>
                      <a:srgbClr val="1B2A4A"/>
                    </a:solidFill>
                  </a:tcPr>
                </a:tc>
                <a:tc>
                  <a:txBody>
                    <a:bodyPr/>
                    <a:lstStyle/>
                    <a:p>
                      <a:pPr algn="ctr"/>
                      <a:r>
                        <a:rPr sz="1300" b="1">
                          <a:solidFill>
                            <a:srgbClr val="FFFFFF"/>
                          </a:solidFill>
                        </a:rPr>
                        <a:t>Slowhttptest</a:t>
                      </a:r>
                    </a:p>
                  </a:txBody>
                  <a:tcPr anchor="ctr">
                    <a:solidFill>
                      <a:srgbClr val="1B2A4A"/>
                    </a:solidFill>
                  </a:tcPr>
                </a:tc>
                <a:tc>
                  <a:txBody>
                    <a:bodyPr/>
                    <a:lstStyle/>
                    <a:p>
                      <a:pPr algn="ctr"/>
                      <a:r>
                        <a:rPr sz="1300" b="1">
                          <a:solidFill>
                            <a:srgbClr val="FFFFFF"/>
                          </a:solidFill>
                        </a:rPr>
                        <a:t>slowloris</a:t>
                      </a:r>
                    </a:p>
                  </a:txBody>
                  <a:tcPr anchor="ctr">
                    <a:solidFill>
                      <a:srgbClr val="1B2A4A"/>
                    </a:solidFill>
                  </a:tcPr>
                </a:tc>
              </a:tr>
              <a:tr h="640080">
                <a:tc>
                  <a:txBody>
                    <a:bodyPr/>
                    <a:lstStyle/>
                    <a:p>
                      <a:pPr algn="l"/>
                      <a:r>
                        <a:rPr sz="1500">
                          <a:solidFill>
                            <a:srgbClr val="22272E"/>
                          </a:solidFill>
                        </a:rPr>
                        <a:t>AE+Context singur</a:t>
                      </a:r>
                    </a:p>
                  </a:txBody>
                  <a:tcPr anchor="ctr">
                    <a:solidFill>
                      <a:srgbClr val="FFFFFF"/>
                    </a:solidFill>
                  </a:tcPr>
                </a:tc>
                <a:tc>
                  <a:txBody>
                    <a:bodyPr/>
                    <a:lstStyle/>
                    <a:p>
                      <a:pPr algn="ctr"/>
                      <a:r>
                        <a:rPr sz="1500">
                          <a:solidFill>
                            <a:srgbClr val="22272E"/>
                          </a:solidFill>
                        </a:rPr>
                        <a:t>0.882</a:t>
                      </a:r>
                    </a:p>
                  </a:txBody>
                  <a:tcPr anchor="ctr">
                    <a:solidFill>
                      <a:srgbClr val="FFFFFF"/>
                    </a:solidFill>
                  </a:tcPr>
                </a:tc>
                <a:tc>
                  <a:txBody>
                    <a:bodyPr/>
                    <a:lstStyle/>
                    <a:p>
                      <a:pPr algn="ctr"/>
                      <a:r>
                        <a:rPr sz="1500">
                          <a:solidFill>
                            <a:srgbClr val="22272E"/>
                          </a:solidFill>
                        </a:rPr>
                        <a:t>0.924</a:t>
                      </a:r>
                    </a:p>
                  </a:txBody>
                  <a:tcPr anchor="ctr">
                    <a:solidFill>
                      <a:srgbClr val="FFFFFF"/>
                    </a:solidFill>
                  </a:tcPr>
                </a:tc>
                <a:tc>
                  <a:txBody>
                    <a:bodyPr/>
                    <a:lstStyle/>
                    <a:p>
                      <a:pPr algn="ctr"/>
                      <a:r>
                        <a:rPr sz="1500">
                          <a:solidFill>
                            <a:srgbClr val="22272E"/>
                          </a:solidFill>
                        </a:rPr>
                        <a:t>0.292</a:t>
                      </a:r>
                    </a:p>
                  </a:txBody>
                  <a:tcPr anchor="ctr">
                    <a:solidFill>
                      <a:srgbClr val="FFFFFF"/>
                    </a:solidFill>
                  </a:tcPr>
                </a:tc>
                <a:tc>
                  <a:txBody>
                    <a:bodyPr/>
                    <a:lstStyle/>
                    <a:p>
                      <a:pPr algn="ctr"/>
                      <a:r>
                        <a:rPr sz="1500">
                          <a:solidFill>
                            <a:srgbClr val="22272E"/>
                          </a:solidFill>
                        </a:rPr>
                        <a:t>0.013</a:t>
                      </a:r>
                    </a:p>
                  </a:txBody>
                  <a:tcPr anchor="ctr">
                    <a:solidFill>
                      <a:srgbClr val="FFFFFF"/>
                    </a:solidFill>
                  </a:tcPr>
                </a:tc>
                <a:tc>
                  <a:txBody>
                    <a:bodyPr/>
                    <a:lstStyle/>
                    <a:p>
                      <a:pPr algn="ctr"/>
                      <a:r>
                        <a:rPr sz="1500">
                          <a:solidFill>
                            <a:srgbClr val="22272E"/>
                          </a:solidFill>
                        </a:rPr>
                        <a:t>0.025</a:t>
                      </a:r>
                    </a:p>
                  </a:txBody>
                  <a:tcPr anchor="ctr">
                    <a:solidFill>
                      <a:srgbClr val="FFFFFF"/>
                    </a:solidFill>
                  </a:tcPr>
                </a:tc>
              </a:tr>
              <a:tr h="640080">
                <a:tc>
                  <a:txBody>
                    <a:bodyPr/>
                    <a:lstStyle/>
                    <a:p>
                      <a:pPr algn="l"/>
                      <a:r>
                        <a:rPr sz="1500">
                          <a:solidFill>
                            <a:srgbClr val="22272E"/>
                          </a:solidFill>
                        </a:rPr>
                        <a:t>Temporal IForest singur</a:t>
                      </a:r>
                    </a:p>
                  </a:txBody>
                  <a:tcPr anchor="ctr">
                    <a:solidFill>
                      <a:srgbClr val="F4F6F9"/>
                    </a:solidFill>
                  </a:tcPr>
                </a:tc>
                <a:tc>
                  <a:txBody>
                    <a:bodyPr/>
                    <a:lstStyle/>
                    <a:p>
                      <a:pPr algn="ctr"/>
                      <a:r>
                        <a:rPr sz="1500">
                          <a:solidFill>
                            <a:srgbClr val="22272E"/>
                          </a:solidFill>
                        </a:rPr>
                        <a:t>0.956</a:t>
                      </a:r>
                    </a:p>
                  </a:txBody>
                  <a:tcPr anchor="ctr">
                    <a:solidFill>
                      <a:srgbClr val="F4F6F9"/>
                    </a:solidFill>
                  </a:tcPr>
                </a:tc>
                <a:tc>
                  <a:txBody>
                    <a:bodyPr/>
                    <a:lstStyle/>
                    <a:p>
                      <a:pPr algn="ctr"/>
                      <a:r>
                        <a:rPr sz="1500">
                          <a:solidFill>
                            <a:srgbClr val="22272E"/>
                          </a:solidFill>
                        </a:rPr>
                        <a:t>0.123</a:t>
                      </a:r>
                    </a:p>
                  </a:txBody>
                  <a:tcPr anchor="ctr">
                    <a:solidFill>
                      <a:srgbClr val="F4F6F9"/>
                    </a:solidFill>
                  </a:tcPr>
                </a:tc>
                <a:tc>
                  <a:txBody>
                    <a:bodyPr/>
                    <a:lstStyle/>
                    <a:p>
                      <a:pPr algn="ctr"/>
                      <a:r>
                        <a:rPr sz="1500">
                          <a:solidFill>
                            <a:srgbClr val="22272E"/>
                          </a:solidFill>
                        </a:rPr>
                        <a:t>0.611</a:t>
                      </a:r>
                    </a:p>
                  </a:txBody>
                  <a:tcPr anchor="ctr">
                    <a:solidFill>
                      <a:srgbClr val="F4F6F9"/>
                    </a:solidFill>
                  </a:tcPr>
                </a:tc>
                <a:tc>
                  <a:txBody>
                    <a:bodyPr/>
                    <a:lstStyle/>
                    <a:p>
                      <a:pPr algn="ctr"/>
                      <a:r>
                        <a:rPr sz="1500">
                          <a:solidFill>
                            <a:srgbClr val="22272E"/>
                          </a:solidFill>
                        </a:rPr>
                        <a:t>0.578</a:t>
                      </a:r>
                    </a:p>
                  </a:txBody>
                  <a:tcPr anchor="ctr">
                    <a:solidFill>
                      <a:srgbClr val="F4F6F9"/>
                    </a:solidFill>
                  </a:tcPr>
                </a:tc>
                <a:tc>
                  <a:txBody>
                    <a:bodyPr/>
                    <a:lstStyle/>
                    <a:p>
                      <a:pPr algn="ctr"/>
                      <a:r>
                        <a:rPr sz="1500">
                          <a:solidFill>
                            <a:srgbClr val="22272E"/>
                          </a:solidFill>
                        </a:rPr>
                        <a:t>0.560</a:t>
                      </a:r>
                    </a:p>
                  </a:txBody>
                  <a:tcPr anchor="ctr">
                    <a:solidFill>
                      <a:srgbClr val="F4F6F9"/>
                    </a:solidFill>
                  </a:tcPr>
                </a:tc>
              </a:tr>
            </a:tbl>
          </a:graphicData>
        </a:graphic>
      </p:graphicFrame>
      <p:sp>
        <p:nvSpPr>
          <p:cNvPr id="8" name="Rectangle 7"/>
          <p:cNvSpPr/>
          <p:nvPr/>
        </p:nvSpPr>
        <p:spPr>
          <a:xfrm>
            <a:off x="502920" y="3657600"/>
            <a:ext cx="11201400" cy="2011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3657600"/>
            <a:ext cx="76200" cy="201168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86200"/>
            <a:ext cx="10698480" cy="1554480"/>
          </a:xfrm>
          <a:prstGeom prst="rect">
            <a:avLst/>
          </a:prstGeom>
          <a:noFill/>
        </p:spPr>
        <p:txBody>
          <a:bodyPr wrap="square" anchor="t">
            <a:spAutoFit/>
          </a:bodyPr>
          <a:lstStyle/>
          <a:p>
            <a:pPr algn="l">
              <a:lnSpc>
                <a:spcPct val="130000"/>
              </a:lnSpc>
            </a:pPr>
            <a:r>
              <a:rPr sz="1600" b="0" i="0">
                <a:solidFill>
                  <a:srgbClr val="22272E"/>
                </a:solidFill>
                <a:latin typeface="Calibri"/>
              </a:rPr>
              <a:t>Niciun model sau set de caracteristici, luat singur, nu acoperă fiecare clasă de atac din acest set de date. Combinarea AE+Context (puternic pe DDoS și PortScan, clasele care domină setul de test ca volum) cu Temporal IForest (puternic pe clasele DoS lente și, cu titlu provizoriu, pe Heartbleed) ar acoperi cea mai largă gamă de clase de atac detectabile în cadrul acestui set de caracteristici.</a:t>
            </a:r>
          </a:p>
        </p:txBody>
      </p:sp>
      <p:sp>
        <p:nvSpPr>
          <p:cNvPr id="11" name="TextBox 10"/>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§4.3.3 Discuție — CIC-IDS2017 (Setul de Date 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828800" cy="1097280"/>
          </a:xfrm>
          <a:prstGeom prst="rect">
            <a:avLst/>
          </a:prstGeom>
          <a:noFill/>
        </p:spPr>
        <p:txBody>
          <a:bodyPr wrap="square" anchor="t">
            <a:spAutoFit/>
          </a:bodyPr>
          <a:lstStyle/>
          <a:p>
            <a:pPr algn="l">
              <a:lnSpc>
                <a:spcPct val="100000"/>
              </a:lnSpc>
            </a:pPr>
            <a:r>
              <a:rPr sz="7200" b="1" i="0">
                <a:solidFill>
                  <a:srgbClr val="E07A2C"/>
                </a:solidFill>
                <a:latin typeface="Calibri"/>
              </a:rPr>
              <a:t>04</a:t>
            </a:r>
          </a:p>
        </p:txBody>
      </p:sp>
      <p:sp>
        <p:nvSpPr>
          <p:cNvPr id="4" name="TextBox 3"/>
          <p:cNvSpPr txBox="1"/>
          <p:nvPr/>
        </p:nvSpPr>
        <p:spPr>
          <a:xfrm>
            <a:off x="914400" y="3429000"/>
            <a:ext cx="10058400" cy="914400"/>
          </a:xfrm>
          <a:prstGeom prst="rect">
            <a:avLst/>
          </a:prstGeom>
          <a:noFill/>
        </p:spPr>
        <p:txBody>
          <a:bodyPr wrap="square" anchor="t">
            <a:spAutoFit/>
          </a:bodyPr>
          <a:lstStyle/>
          <a:p>
            <a:pPr algn="l">
              <a:lnSpc>
                <a:spcPct val="100000"/>
              </a:lnSpc>
            </a:pPr>
            <a:r>
              <a:rPr sz="3600" b="1" i="0">
                <a:solidFill>
                  <a:srgbClr val="FFFFFF"/>
                </a:solidFill>
                <a:latin typeface="Calibri"/>
              </a:rPr>
              <a:t>Studii de caz de explicabilitate</a:t>
            </a:r>
          </a:p>
        </p:txBody>
      </p:sp>
      <p:sp>
        <p:nvSpPr>
          <p:cNvPr id="5" name="TextBox 4"/>
          <p:cNvSpPr txBox="1"/>
          <p:nvPr/>
        </p:nvSpPr>
        <p:spPr>
          <a:xfrm>
            <a:off x="914400" y="4160520"/>
            <a:ext cx="9601200" cy="731520"/>
          </a:xfrm>
          <a:prstGeom prst="rect">
            <a:avLst/>
          </a:prstGeom>
          <a:noFill/>
        </p:spPr>
        <p:txBody>
          <a:bodyPr wrap="square" anchor="t">
            <a:spAutoFit/>
          </a:bodyPr>
          <a:lstStyle/>
          <a:p>
            <a:pPr algn="l">
              <a:lnSpc>
                <a:spcPct val="100000"/>
              </a:lnSpc>
            </a:pPr>
            <a:r>
              <a:rPr sz="1600" b="0" i="0">
                <a:solidFill>
                  <a:srgbClr val="C9D6E8"/>
                </a:solidFill>
                <a:latin typeface="Calibri"/>
              </a:rPr>
              <a:t>Testarea directă a ipotezelor din discuția rezultatelor, prin diagnostice țintite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4.1</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Localizarea erorii de reconstrucție pe Yahoo A3</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14</a:t>
            </a:r>
          </a:p>
        </p:txBody>
      </p:sp>
      <p:sp>
        <p:nvSpPr>
          <p:cNvPr id="7" name="TextBox 6"/>
          <p:cNvSpPr txBox="1"/>
          <p:nvPr/>
        </p:nvSpPr>
        <p:spPr>
          <a:xfrm>
            <a:off x="502920" y="1417320"/>
            <a:ext cx="5577840" cy="3200400"/>
          </a:xfrm>
          <a:prstGeom prst="rect">
            <a:avLst/>
          </a:prstGeom>
          <a:noFill/>
        </p:spPr>
        <p:txBody>
          <a:bodyPr wrap="square">
            <a:spAutoFit/>
          </a:bodyPr>
          <a:lstStyle/>
          <a:p>
            <a:pPr>
              <a:lnSpc>
                <a:spcPct val="108000"/>
              </a:lnSpc>
              <a:spcAft>
                <a:spcPts val="1400"/>
              </a:spcAft>
            </a:pPr>
            <a:r>
              <a:rPr sz="1550" b="1">
                <a:solidFill>
                  <a:srgbClr val="E07A2C"/>
                </a:solidFill>
                <a:latin typeface="Calibri"/>
              </a:rPr>
              <a:t>▸  </a:t>
            </a:r>
            <a:r>
              <a:rPr sz="1550" b="0">
                <a:solidFill>
                  <a:srgbClr val="22272E"/>
                </a:solidFill>
                <a:latin typeface="Calibri"/>
              </a:rPr>
              <a:t>Ipoteză: LSTM AE comprimă întreaga fereastră într-o singură stare finală → eroare difuză, uniformă</a:t>
            </a:r>
          </a:p>
          <a:p>
            <a:pPr>
              <a:lnSpc>
                <a:spcPct val="108000"/>
              </a:lnSpc>
              <a:spcAft>
                <a:spcPts val="1400"/>
              </a:spcAft>
            </a:pPr>
            <a:r>
              <a:rPr sz="1550" b="1">
                <a:solidFill>
                  <a:srgbClr val="E07A2C"/>
                </a:solidFill>
                <a:latin typeface="Calibri"/>
              </a:rPr>
              <a:t>▸  </a:t>
            </a:r>
            <a:r>
              <a:rPr sz="1550" b="0">
                <a:solidFill>
                  <a:srgbClr val="22272E"/>
                </a:solidFill>
                <a:latin typeface="Calibri"/>
              </a:rPr>
              <a:t>Transformer AE păstrează informație pozițională prin auto-atenție → eroare concentrată, localizată exact unde faza sezonieră e încălcată</a:t>
            </a:r>
          </a:p>
          <a:p>
            <a:pPr>
              <a:lnSpc>
                <a:spcPct val="108000"/>
              </a:lnSpc>
              <a:spcAft>
                <a:spcPts val="1400"/>
              </a:spcAft>
            </a:pPr>
            <a:r>
              <a:rPr sz="1550" b="1">
                <a:solidFill>
                  <a:srgbClr val="E07A2C"/>
                </a:solidFill>
                <a:latin typeface="Calibri"/>
              </a:rPr>
              <a:t>▸  </a:t>
            </a:r>
            <a:r>
              <a:rPr sz="1550" b="1">
                <a:solidFill>
                  <a:srgbClr val="22272E"/>
                </a:solidFill>
                <a:latin typeface="Calibri"/>
              </a:rPr>
              <a:t>Măsură: coeficientul Gini al celor 64 erori pătratice per fereastră (0 = uniform, 1 = concentrat total)</a:t>
            </a:r>
          </a:p>
        </p:txBody>
      </p:sp>
      <p:sp>
        <p:nvSpPr>
          <p:cNvPr id="8" name="Rectangle 7"/>
          <p:cNvSpPr/>
          <p:nvPr/>
        </p:nvSpPr>
        <p:spPr>
          <a:xfrm>
            <a:off x="502920" y="4206240"/>
            <a:ext cx="5577840" cy="1463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343400"/>
            <a:ext cx="5120640" cy="1188720"/>
          </a:xfrm>
          <a:prstGeom prst="rect">
            <a:avLst/>
          </a:prstGeom>
          <a:noFill/>
        </p:spPr>
        <p:txBody>
          <a:bodyPr wrap="square" anchor="t">
            <a:spAutoFit/>
          </a:bodyPr>
          <a:lstStyle/>
          <a:p>
            <a:pPr algn="l">
              <a:lnSpc>
                <a:spcPct val="130000"/>
              </a:lnSpc>
            </a:pPr>
            <a:r>
              <a:rPr sz="1650" b="1" i="0">
                <a:solidFill>
                  <a:srgbClr val="1B2A4A"/>
                </a:solidFill>
                <a:latin typeface="Calibri"/>
              </a:rPr>
              <a:t>Gini mediu:</a:t>
            </a:r>
          </a:p>
          <a:p>
            <a:pPr algn="l">
              <a:lnSpc>
                <a:spcPct val="130000"/>
              </a:lnSpc>
            </a:pPr>
            <a:r>
              <a:rPr sz="1650" b="1" i="0">
                <a:solidFill>
                  <a:srgbClr val="1B2A4A"/>
                </a:solidFill>
                <a:latin typeface="Calibri"/>
              </a:rPr>
              <a:t>LSTM AE = 0.566   vs.   Transformer AE = 0.721</a:t>
            </a:r>
          </a:p>
        </p:txBody>
      </p:sp>
      <p:pic>
        <p:nvPicPr>
          <p:cNvPr id="10" name="Picture 9" descr="gini_hist.png"/>
          <p:cNvPicPr>
            <a:picLocks noChangeAspect="1"/>
          </p:cNvPicPr>
          <p:nvPr/>
        </p:nvPicPr>
        <p:blipFill>
          <a:blip r:embed="rId2"/>
          <a:stretch>
            <a:fillRect/>
          </a:stretch>
        </p:blipFill>
        <p:spPr>
          <a:xfrm>
            <a:off x="6355080" y="2122736"/>
            <a:ext cx="5394960" cy="2795408"/>
          </a:xfrm>
          <a:prstGeom prst="rect">
            <a:avLst/>
          </a:prstGeom>
        </p:spPr>
      </p:pic>
      <p:sp>
        <p:nvSpPr>
          <p:cNvPr id="11" name="TextBox 10"/>
          <p:cNvSpPr txBox="1"/>
          <p:nvPr/>
        </p:nvSpPr>
        <p:spPr>
          <a:xfrm>
            <a:off x="6355080" y="5674360"/>
            <a:ext cx="5394960" cy="365760"/>
          </a:xfrm>
          <a:prstGeom prst="rect">
            <a:avLst/>
          </a:prstGeom>
          <a:noFill/>
        </p:spPr>
        <p:txBody>
          <a:bodyPr wrap="square" anchor="t">
            <a:spAutoFit/>
          </a:bodyPr>
          <a:lstStyle/>
          <a:p>
            <a:pPr algn="ctr">
              <a:lnSpc>
                <a:spcPct val="100000"/>
              </a:lnSpc>
            </a:pPr>
            <a:r>
              <a:rPr sz="1100" b="0" i="1">
                <a:solidFill>
                  <a:srgbClr val="5A6370"/>
                </a:solidFill>
                <a:latin typeface="Calibri"/>
              </a:rPr>
              <a:t>Fig. 5.1 — distribuția Gini pe cele 14.449 ferestre A3 anormale</a:t>
            </a:r>
          </a:p>
        </p:txBody>
      </p:sp>
      <p:sp>
        <p:nvSpPr>
          <p:cNvPr id="12" name="TextBox 11"/>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§5.1 Localizarea Erorii de Reconstrucție pe Yahoo A3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4.1</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Verificare vizuală: hărți termice ale erorii</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15</a:t>
            </a:r>
          </a:p>
        </p:txBody>
      </p:sp>
      <p:pic>
        <p:nvPicPr>
          <p:cNvPr id="7" name="Picture 6" descr="yahoo_heatmap.png"/>
          <p:cNvPicPr>
            <a:picLocks noChangeAspect="1"/>
          </p:cNvPicPr>
          <p:nvPr/>
        </p:nvPicPr>
        <p:blipFill>
          <a:blip r:embed="rId2"/>
          <a:stretch>
            <a:fillRect/>
          </a:stretch>
        </p:blipFill>
        <p:spPr>
          <a:xfrm>
            <a:off x="1199958" y="1234440"/>
            <a:ext cx="2034924" cy="4892040"/>
          </a:xfrm>
          <a:prstGeom prst="rect">
            <a:avLst/>
          </a:prstGeom>
        </p:spPr>
      </p:pic>
      <p:sp>
        <p:nvSpPr>
          <p:cNvPr id="8" name="TextBox 7"/>
          <p:cNvSpPr txBox="1"/>
          <p:nvPr/>
        </p:nvSpPr>
        <p:spPr>
          <a:xfrm>
            <a:off x="502920" y="6177280"/>
            <a:ext cx="3429000" cy="365760"/>
          </a:xfrm>
          <a:prstGeom prst="rect">
            <a:avLst/>
          </a:prstGeom>
          <a:noFill/>
        </p:spPr>
        <p:txBody>
          <a:bodyPr wrap="square" anchor="t">
            <a:spAutoFit/>
          </a:bodyPr>
          <a:lstStyle/>
          <a:p>
            <a:pPr algn="ctr">
              <a:lnSpc>
                <a:spcPct val="100000"/>
              </a:lnSpc>
            </a:pPr>
            <a:r>
              <a:rPr sz="1050" b="0" i="1">
                <a:solidFill>
                  <a:srgbClr val="5A6370"/>
                </a:solidFill>
                <a:latin typeface="Calibri"/>
              </a:rPr>
              <a:t>Fig. 7.1 — 300 ferestre A3 anormale</a:t>
            </a:r>
          </a:p>
        </p:txBody>
      </p:sp>
      <p:pic>
        <p:nvPicPr>
          <p:cNvPr id="9" name="Picture 8" descr="yahoo_heatmap_zoom.png"/>
          <p:cNvPicPr>
            <a:picLocks noChangeAspect="1"/>
          </p:cNvPicPr>
          <p:nvPr/>
        </p:nvPicPr>
        <p:blipFill>
          <a:blip r:embed="rId3"/>
          <a:stretch>
            <a:fillRect/>
          </a:stretch>
        </p:blipFill>
        <p:spPr>
          <a:xfrm>
            <a:off x="5554979" y="1234440"/>
            <a:ext cx="4800600" cy="2880360"/>
          </a:xfrm>
          <a:prstGeom prst="rect">
            <a:avLst/>
          </a:prstGeom>
        </p:spPr>
      </p:pic>
      <p:sp>
        <p:nvSpPr>
          <p:cNvPr id="10" name="TextBox 9"/>
          <p:cNvSpPr txBox="1"/>
          <p:nvPr/>
        </p:nvSpPr>
        <p:spPr>
          <a:xfrm>
            <a:off x="4206240" y="4165600"/>
            <a:ext cx="7498079" cy="365760"/>
          </a:xfrm>
          <a:prstGeom prst="rect">
            <a:avLst/>
          </a:prstGeom>
          <a:noFill/>
        </p:spPr>
        <p:txBody>
          <a:bodyPr wrap="square" anchor="t">
            <a:spAutoFit/>
          </a:bodyPr>
          <a:lstStyle/>
          <a:p>
            <a:pPr algn="ctr">
              <a:lnSpc>
                <a:spcPct val="100000"/>
              </a:lnSpc>
            </a:pPr>
            <a:r>
              <a:rPr sz="1050" b="0" i="1">
                <a:solidFill>
                  <a:srgbClr val="5A6370"/>
                </a:solidFill>
                <a:latin typeface="Calibri"/>
              </a:rPr>
              <a:t>Detaliu — treimea a treia a benzii (rândurile ~150–225 din 300)</a:t>
            </a:r>
          </a:p>
        </p:txBody>
      </p:sp>
      <p:sp>
        <p:nvSpPr>
          <p:cNvPr id="11" name="TextBox 10"/>
          <p:cNvSpPr txBox="1"/>
          <p:nvPr/>
        </p:nvSpPr>
        <p:spPr>
          <a:xfrm>
            <a:off x="4206240" y="4434840"/>
            <a:ext cx="7498079" cy="1737360"/>
          </a:xfrm>
          <a:prstGeom prst="rect">
            <a:avLst/>
          </a:prstGeom>
          <a:noFill/>
        </p:spPr>
        <p:txBody>
          <a:bodyPr wrap="square">
            <a:spAutoFit/>
          </a:bodyPr>
          <a:lstStyle/>
          <a:p>
            <a:pPr>
              <a:lnSpc>
                <a:spcPct val="108000"/>
              </a:lnSpc>
              <a:spcAft>
                <a:spcPts val="1000"/>
              </a:spcAft>
            </a:pPr>
            <a:r>
              <a:rPr sz="1400" b="1">
                <a:solidFill>
                  <a:srgbClr val="E07A2C"/>
                </a:solidFill>
                <a:latin typeface="Calibri"/>
              </a:rPr>
              <a:t>▸  </a:t>
            </a:r>
            <a:r>
              <a:rPr sz="1400" b="0">
                <a:solidFill>
                  <a:srgbClr val="22272E"/>
                </a:solidFill>
                <a:latin typeface="Calibri"/>
              </a:rPr>
              <a:t>Fiecare rând = o fereastră; fiecare coloană = un pas temporal; culoarea = eroarea pătratică</a:t>
            </a:r>
          </a:p>
          <a:p>
            <a:pPr>
              <a:lnSpc>
                <a:spcPct val="108000"/>
              </a:lnSpc>
              <a:spcAft>
                <a:spcPts val="1000"/>
              </a:spcAft>
            </a:pPr>
            <a:r>
              <a:rPr sz="1400" b="1">
                <a:solidFill>
                  <a:srgbClr val="E07A2C"/>
                </a:solidFill>
                <a:latin typeface="Calibri"/>
              </a:rPr>
              <a:t>▸  </a:t>
            </a:r>
            <a:r>
              <a:rPr sz="1400" b="0">
                <a:solidFill>
                  <a:srgbClr val="22272E"/>
                </a:solidFill>
                <a:latin typeface="Calibri"/>
              </a:rPr>
              <a:t>LSTM AE (stânga): eroare ridicată mai des răspândită subțire pe toată lățimea</a:t>
            </a:r>
          </a:p>
          <a:p>
            <a:pPr>
              <a:lnSpc>
                <a:spcPct val="108000"/>
              </a:lnSpc>
              <a:spcAft>
                <a:spcPts val="1000"/>
              </a:spcAft>
            </a:pPr>
            <a:r>
              <a:rPr sz="1400" b="1">
                <a:solidFill>
                  <a:srgbClr val="E07A2C"/>
                </a:solidFill>
                <a:latin typeface="Calibri"/>
              </a:rPr>
              <a:t>▸  </a:t>
            </a:r>
            <a:r>
              <a:rPr sz="1400" b="0">
                <a:solidFill>
                  <a:srgbClr val="22272E"/>
                </a:solidFill>
                <a:latin typeface="Calibri"/>
              </a:rPr>
              <a:t>Transformer AE (dreapta): eroare vizibil mai rară și limitată la pași izolați</a:t>
            </a:r>
          </a:p>
          <a:p>
            <a:pPr>
              <a:lnSpc>
                <a:spcPct val="108000"/>
              </a:lnSpc>
              <a:spcAft>
                <a:spcPts val="1000"/>
              </a:spcAft>
            </a:pPr>
            <a:r>
              <a:rPr sz="1400" b="1">
                <a:solidFill>
                  <a:srgbClr val="E07A2C"/>
                </a:solidFill>
                <a:latin typeface="Calibri"/>
              </a:rPr>
              <a:t>▸  </a:t>
            </a:r>
            <a:r>
              <a:rPr sz="1400" b="1">
                <a:solidFill>
                  <a:srgbClr val="22272E"/>
                </a:solidFill>
                <a:latin typeface="Calibri"/>
              </a:rPr>
              <a:t>Confirmă ipoteza calitativ, dar coeficientul Gini o cuantifică riguros</a:t>
            </a:r>
          </a:p>
        </p:txBody>
      </p:sp>
      <p:sp>
        <p:nvSpPr>
          <p:cNvPr id="12" name="TextBox 11"/>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Anexa 7 — completează verificarea calitativă din §5.1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4.2</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SHAP: o scurtă introducere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16</a:t>
            </a:r>
          </a:p>
        </p:txBody>
      </p:sp>
      <p:sp>
        <p:nvSpPr>
          <p:cNvPr id="7" name="TextBox 6"/>
          <p:cNvSpPr txBox="1"/>
          <p:nvPr/>
        </p:nvSpPr>
        <p:spPr>
          <a:xfrm>
            <a:off x="502920" y="1417320"/>
            <a:ext cx="11155680" cy="457200"/>
          </a:xfrm>
          <a:prstGeom prst="rect">
            <a:avLst/>
          </a:prstGeom>
          <a:noFill/>
        </p:spPr>
        <p:txBody>
          <a:bodyPr wrap="square" anchor="t">
            <a:spAutoFit/>
          </a:bodyPr>
          <a:lstStyle/>
          <a:p>
            <a:pPr algn="l">
              <a:lnSpc>
                <a:spcPct val="100000"/>
              </a:lnSpc>
            </a:pPr>
            <a:r>
              <a:rPr sz="1700" b="1" i="0">
                <a:solidFill>
                  <a:srgbClr val="2E5C8A"/>
                </a:solidFill>
                <a:latin typeface="Calibri"/>
              </a:rPr>
              <a:t>SHapley Additive exPlanations — provine din teoria jocurilor cooperative (valorile Shapley)</a:t>
            </a:r>
          </a:p>
        </p:txBody>
      </p:sp>
      <p:sp>
        <p:nvSpPr>
          <p:cNvPr id="8" name="Rectangle 7"/>
          <p:cNvSpPr/>
          <p:nvPr/>
        </p:nvSpPr>
        <p:spPr>
          <a:xfrm>
            <a:off x="502920" y="2103120"/>
            <a:ext cx="11201400"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103120"/>
            <a:ext cx="11201400" cy="1051560"/>
          </a:xfrm>
          <a:prstGeom prst="rect">
            <a:avLst/>
          </a:prstGeom>
          <a:noFill/>
        </p:spPr>
        <p:txBody>
          <a:bodyPr wrap="square" anchor="ctr">
            <a:spAutoFit/>
          </a:bodyPr>
          <a:lstStyle/>
          <a:p>
            <a:pPr algn="ctr">
              <a:lnSpc>
                <a:spcPct val="100000"/>
              </a:lnSpc>
            </a:pPr>
            <a:r>
              <a:rPr sz="1800" b="1" i="0">
                <a:solidFill>
                  <a:srgbClr val="FFFFFF"/>
                </a:solidFill>
                <a:latin typeface="Calibri"/>
              </a:rPr>
              <a:t>ϕᵢ(f) = contribuția caracteristicii i la ieșirea modelului f, mediată peste toate coalițiile posibile de caracteristici</a:t>
            </a:r>
          </a:p>
        </p:txBody>
      </p:sp>
      <p:sp>
        <p:nvSpPr>
          <p:cNvPr id="10" name="TextBox 9"/>
          <p:cNvSpPr txBox="1"/>
          <p:nvPr/>
        </p:nvSpPr>
        <p:spPr>
          <a:xfrm>
            <a:off x="502920" y="3429000"/>
            <a:ext cx="11155680" cy="2651760"/>
          </a:xfrm>
          <a:prstGeom prst="rect">
            <a:avLst/>
          </a:prstGeom>
          <a:noFill/>
        </p:spPr>
        <p:txBody>
          <a:bodyPr wrap="square">
            <a:spAutoFit/>
          </a:bodyPr>
          <a:lstStyle/>
          <a:p>
            <a:pPr>
              <a:lnSpc>
                <a:spcPct val="108000"/>
              </a:lnSpc>
              <a:spcAft>
                <a:spcPts val="1400"/>
              </a:spcAft>
            </a:pPr>
            <a:r>
              <a:rPr sz="1600" b="1">
                <a:solidFill>
                  <a:srgbClr val="E07A2C"/>
                </a:solidFill>
                <a:latin typeface="Calibri"/>
              </a:rPr>
              <a:t>▸  </a:t>
            </a:r>
            <a:r>
              <a:rPr sz="1600" b="0">
                <a:solidFill>
                  <a:srgbClr val="22272E"/>
                </a:solidFill>
                <a:latin typeface="Calibri"/>
              </a:rPr>
              <a:t>Fiecărui eșantion i se atribuie câte o valoare per caracteristică — cât a influențat acea caracteristică ieșirea</a:t>
            </a:r>
          </a:p>
          <a:p>
            <a:pPr>
              <a:lnSpc>
                <a:spcPct val="108000"/>
              </a:lnSpc>
              <a:spcAft>
                <a:spcPts val="1400"/>
              </a:spcAft>
            </a:pPr>
            <a:r>
              <a:rPr sz="1600" b="1">
                <a:solidFill>
                  <a:srgbClr val="E07A2C"/>
                </a:solidFill>
                <a:latin typeface="Calibri"/>
              </a:rPr>
              <a:t>▸  </a:t>
            </a:r>
            <a:r>
              <a:rPr sz="1600" b="0">
                <a:solidFill>
                  <a:srgbClr val="22272E"/>
                </a:solidFill>
                <a:latin typeface="Calibri"/>
              </a:rPr>
              <a:t>Semnul arată direcția (spre normal sau anormal); magnitudinea arată contribuția relativă</a:t>
            </a:r>
          </a:p>
          <a:p>
            <a:pPr>
              <a:lnSpc>
                <a:spcPct val="108000"/>
              </a:lnSpc>
              <a:spcAft>
                <a:spcPts val="1400"/>
              </a:spcAft>
            </a:pPr>
            <a:r>
              <a:rPr sz="1600" b="1">
                <a:solidFill>
                  <a:srgbClr val="E07A2C"/>
                </a:solidFill>
                <a:latin typeface="Calibri"/>
              </a:rPr>
              <a:t>▸  </a:t>
            </a:r>
            <a:r>
              <a:rPr sz="1600" b="1">
                <a:solidFill>
                  <a:srgbClr val="22272E"/>
                </a:solidFill>
                <a:latin typeface="Calibri"/>
              </a:rPr>
              <a:t>Diagramă beeswarm: un rând per caracteristică, un punct per eșantion, poziționat după valoarea SHAP și colorat după valoarea caracteristicii (albastru = mic, roșu = mare)</a:t>
            </a:r>
          </a:p>
        </p:txBody>
      </p:sp>
      <p:sp>
        <p:nvSpPr>
          <p:cNvPr id="11" name="TextBox 10"/>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§5.2 Regimuri de Caracteristici Disjuncte — introducere SHAP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4.2</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SHAP — Temporal IForest: atenție difuzată pe fereastră</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17</a:t>
            </a:r>
          </a:p>
        </p:txBody>
      </p:sp>
      <p:pic>
        <p:nvPicPr>
          <p:cNvPr id="7" name="Picture 6" descr="shap_temporal_iforest.png"/>
          <p:cNvPicPr>
            <a:picLocks noChangeAspect="1"/>
          </p:cNvPicPr>
          <p:nvPr/>
        </p:nvPicPr>
        <p:blipFill>
          <a:blip r:embed="rId2"/>
          <a:stretch>
            <a:fillRect/>
          </a:stretch>
        </p:blipFill>
        <p:spPr>
          <a:xfrm>
            <a:off x="502920" y="1435755"/>
            <a:ext cx="11201400" cy="3163529"/>
          </a:xfrm>
          <a:prstGeom prst="rect">
            <a:avLst/>
          </a:prstGeom>
        </p:spPr>
      </p:pic>
      <p:sp>
        <p:nvSpPr>
          <p:cNvPr id="8" name="TextBox 7"/>
          <p:cNvSpPr txBox="1"/>
          <p:nvPr/>
        </p:nvSpPr>
        <p:spPr>
          <a:xfrm>
            <a:off x="502920" y="4714240"/>
            <a:ext cx="11201400" cy="365760"/>
          </a:xfrm>
          <a:prstGeom prst="rect">
            <a:avLst/>
          </a:prstGeom>
          <a:noFill/>
        </p:spPr>
        <p:txBody>
          <a:bodyPr wrap="square" anchor="t">
            <a:spAutoFit/>
          </a:bodyPr>
          <a:lstStyle/>
          <a:p>
            <a:pPr algn="ctr">
              <a:lnSpc>
                <a:spcPct val="100000"/>
              </a:lnSpc>
            </a:pPr>
            <a:r>
              <a:rPr sz="1100" b="0" i="1">
                <a:solidFill>
                  <a:srgbClr val="5A6370"/>
                </a:solidFill>
                <a:latin typeface="Calibri"/>
              </a:rPr>
              <a:t>Fig. 5.2 — valoarea medie SHAP per pas temporal, ferestre DDoS (stânga) și DoS slowloris (dreapta)</a:t>
            </a:r>
          </a:p>
        </p:txBody>
      </p:sp>
      <p:sp>
        <p:nvSpPr>
          <p:cNvPr id="9" name="TextBox 8"/>
          <p:cNvSpPr txBox="1"/>
          <p:nvPr/>
        </p:nvSpPr>
        <p:spPr>
          <a:xfrm>
            <a:off x="502920" y="4937760"/>
            <a:ext cx="11155680" cy="1554480"/>
          </a:xfrm>
          <a:prstGeom prst="rect">
            <a:avLst/>
          </a:prstGeom>
          <a:noFill/>
        </p:spPr>
        <p:txBody>
          <a:bodyPr wrap="square">
            <a:spAutoFit/>
          </a:bodyPr>
          <a:lstStyle/>
          <a:p>
            <a:pPr>
              <a:lnSpc>
                <a:spcPct val="108000"/>
              </a:lnSpc>
              <a:spcAft>
                <a:spcPts val="1000"/>
              </a:spcAft>
            </a:pPr>
            <a:r>
              <a:rPr sz="1500" b="1">
                <a:solidFill>
                  <a:srgbClr val="E07A2C"/>
                </a:solidFill>
                <a:latin typeface="Calibri"/>
              </a:rPr>
              <a:t>▸  </a:t>
            </a:r>
            <a:r>
              <a:rPr sz="1500" b="1">
                <a:solidFill>
                  <a:srgbClr val="22272E"/>
                </a:solidFill>
                <a:latin typeface="Calibri"/>
              </a:rPr>
              <a:t>Atribuirea e negativă (anormal) și recurentă pe majoritatea celor 16 pași temporali — nu se concentrează doar pe fluxul final (linia roșie)</a:t>
            </a:r>
          </a:p>
          <a:p>
            <a:pPr>
              <a:lnSpc>
                <a:spcPct val="108000"/>
              </a:lnSpc>
              <a:spcAft>
                <a:spcPts val="1000"/>
              </a:spcAft>
            </a:pPr>
            <a:r>
              <a:rPr sz="1500" b="1">
                <a:solidFill>
                  <a:srgbClr val="E07A2C"/>
                </a:solidFill>
                <a:latin typeface="Calibri"/>
              </a:rPr>
              <a:t>▸  </a:t>
            </a:r>
            <a:r>
              <a:rPr sz="1500" b="0">
                <a:solidFill>
                  <a:srgbClr val="22272E"/>
                </a:solidFill>
                <a:latin typeface="Calibri"/>
              </a:rPr>
              <a:t>Caracteristici principale confirmă mecanismul cunoscut al atacului: lungimea pachetelor pentru DDoS, timpul între sosiri pentru atacurile lente</a:t>
            </a:r>
          </a:p>
        </p:txBody>
      </p:sp>
      <p:sp>
        <p:nvSpPr>
          <p:cNvPr id="10" name="TextBox 9"/>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§5.2.1 — SHAP calculat cu TreeExplainer pe fereastra aplațizată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4.2</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SHAP — AE+Context: dominat de context de gazdă</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18</a:t>
            </a:r>
          </a:p>
        </p:txBody>
      </p:sp>
      <p:pic>
        <p:nvPicPr>
          <p:cNvPr id="7" name="Picture 6" descr="shap_ae_context.png"/>
          <p:cNvPicPr>
            <a:picLocks noChangeAspect="1"/>
          </p:cNvPicPr>
          <p:nvPr/>
        </p:nvPicPr>
        <p:blipFill>
          <a:blip r:embed="rId2"/>
          <a:stretch>
            <a:fillRect/>
          </a:stretch>
        </p:blipFill>
        <p:spPr>
          <a:xfrm>
            <a:off x="502920" y="1425088"/>
            <a:ext cx="4937760" cy="4739343"/>
          </a:xfrm>
          <a:prstGeom prst="rect">
            <a:avLst/>
          </a:prstGeom>
        </p:spPr>
      </p:pic>
      <p:sp>
        <p:nvSpPr>
          <p:cNvPr id="8" name="TextBox 7"/>
          <p:cNvSpPr txBox="1"/>
          <p:nvPr/>
        </p:nvSpPr>
        <p:spPr>
          <a:xfrm>
            <a:off x="502920" y="6405880"/>
            <a:ext cx="4937760" cy="365760"/>
          </a:xfrm>
          <a:prstGeom prst="rect">
            <a:avLst/>
          </a:prstGeom>
          <a:noFill/>
        </p:spPr>
        <p:txBody>
          <a:bodyPr wrap="square" anchor="t">
            <a:spAutoFit/>
          </a:bodyPr>
          <a:lstStyle/>
          <a:p>
            <a:pPr algn="ctr">
              <a:lnSpc>
                <a:spcPct val="100000"/>
              </a:lnSpc>
            </a:pPr>
            <a:r>
              <a:rPr sz="1100" b="0" i="1">
                <a:solidFill>
                  <a:srgbClr val="5A6370"/>
                </a:solidFill>
                <a:latin typeface="Calibri"/>
              </a:rPr>
              <a:t>Fig. 5.3 — diagramă beeswarm SHAP, eșantioane PortScan</a:t>
            </a:r>
          </a:p>
        </p:txBody>
      </p:sp>
      <p:sp>
        <p:nvSpPr>
          <p:cNvPr id="9" name="TextBox 8"/>
          <p:cNvSpPr txBox="1"/>
          <p:nvPr/>
        </p:nvSpPr>
        <p:spPr>
          <a:xfrm>
            <a:off x="5760720" y="1463040"/>
            <a:ext cx="5943600" cy="3017520"/>
          </a:xfrm>
          <a:prstGeom prst="rect">
            <a:avLst/>
          </a:prstGeom>
          <a:noFill/>
        </p:spPr>
        <p:txBody>
          <a:bodyPr wrap="square">
            <a:spAutoFit/>
          </a:bodyPr>
          <a:lstStyle/>
          <a:p>
            <a:pPr>
              <a:lnSpc>
                <a:spcPct val="108000"/>
              </a:lnSpc>
              <a:spcAft>
                <a:spcPts val="1200"/>
              </a:spcAft>
            </a:pPr>
            <a:r>
              <a:rPr sz="1500" b="1">
                <a:solidFill>
                  <a:srgbClr val="E07A2C"/>
                </a:solidFill>
                <a:latin typeface="Calibri"/>
              </a:rPr>
              <a:t>▸  </a:t>
            </a:r>
            <a:r>
              <a:rPr sz="1500" b="1">
                <a:solidFill>
                  <a:srgbClr val="22272E"/>
                </a:solidFill>
                <a:latin typeface="Calibri"/>
              </a:rPr>
              <a:t>ctx_min_port_cnt domină printr-un cluster strâns, uniform pozitiv — depășește orice altă caracteristică</a:t>
            </a:r>
          </a:p>
          <a:p>
            <a:pPr>
              <a:lnSpc>
                <a:spcPct val="108000"/>
              </a:lnSpc>
              <a:spcAft>
                <a:spcPts val="1200"/>
              </a:spcAft>
            </a:pPr>
            <a:r>
              <a:rPr sz="1500" b="1">
                <a:solidFill>
                  <a:srgbClr val="E07A2C"/>
                </a:solidFill>
                <a:latin typeface="Calibri"/>
              </a:rPr>
              <a:t>▸  </a:t>
            </a:r>
            <a:r>
              <a:rPr sz="1500" b="0">
                <a:solidFill>
                  <a:srgbClr val="22272E"/>
                </a:solidFill>
                <a:latin typeface="Calibri"/>
              </a:rPr>
              <a:t>8/15 (PortScan) și 7/15 (DDoS) dintre caracteristicile de top sunt caracteristici de context al gazdei</a:t>
            </a:r>
          </a:p>
          <a:p>
            <a:pPr>
              <a:lnSpc>
                <a:spcPct val="108000"/>
              </a:lnSpc>
              <a:spcAft>
                <a:spcPts val="1200"/>
              </a:spcAft>
            </a:pPr>
            <a:r>
              <a:rPr sz="1500" b="1">
                <a:solidFill>
                  <a:srgbClr val="E07A2C"/>
                </a:solidFill>
                <a:latin typeface="Calibri"/>
              </a:rPr>
              <a:t>▸  </a:t>
            </a:r>
            <a:r>
              <a:rPr sz="1500" b="0">
                <a:solidFill>
                  <a:srgbClr val="22272E"/>
                </a:solidFill>
                <a:latin typeface="Calibri"/>
              </a:rPr>
              <a:t>Cum se citește: fiecare punct = un eșantion; poziție orizontală = impact SHAP; culoare = valoarea caracteristicii (roșu = mare, albastru = mic)</a:t>
            </a:r>
          </a:p>
        </p:txBody>
      </p:sp>
      <p:sp>
        <p:nvSpPr>
          <p:cNvPr id="10" name="Rectangle 9"/>
          <p:cNvSpPr/>
          <p:nvPr/>
        </p:nvSpPr>
        <p:spPr>
          <a:xfrm>
            <a:off x="5760720" y="4663440"/>
            <a:ext cx="5943600" cy="1371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4800600"/>
            <a:ext cx="5486400" cy="1097280"/>
          </a:xfrm>
          <a:prstGeom prst="rect">
            <a:avLst/>
          </a:prstGeom>
          <a:noFill/>
        </p:spPr>
        <p:txBody>
          <a:bodyPr wrap="square" anchor="t">
            <a:spAutoFit/>
          </a:bodyPr>
          <a:lstStyle/>
          <a:p>
            <a:pPr algn="l">
              <a:lnSpc>
                <a:spcPct val="120000"/>
              </a:lnSpc>
            </a:pPr>
            <a:r>
              <a:rPr sz="1350" b="0" i="0">
                <a:solidFill>
                  <a:srgbClr val="22272E"/>
                </a:solidFill>
                <a:latin typeface="Calibri"/>
              </a:rPr>
              <a:t>Confirmă că avantajul lui AE+Context pe clasele sale puternice (DDoS, PortScan) e determinat aproape în întregime de dovezi de context al gazdei — indisponibile lui Temporal IForest.</a:t>
            </a:r>
          </a:p>
        </p:txBody>
      </p:sp>
      <p:sp>
        <p:nvSpPr>
          <p:cNvPr id="12" name="TextBox 11"/>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§5.2.2 — SHAP calculat cu GradientExplainer pe eroarea de reconstrucție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EXPLICABILITATE 4.2</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Ansamblul: cum se combină scorurile și rezultat</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19</a:t>
            </a:r>
          </a:p>
        </p:txBody>
      </p:sp>
      <p:sp>
        <p:nvSpPr>
          <p:cNvPr id="7" name="TextBox 6"/>
          <p:cNvSpPr txBox="1"/>
          <p:nvPr/>
        </p:nvSpPr>
        <p:spPr>
          <a:xfrm>
            <a:off x="502920" y="1371600"/>
            <a:ext cx="11155680" cy="457200"/>
          </a:xfrm>
          <a:prstGeom prst="rect">
            <a:avLst/>
          </a:prstGeom>
          <a:noFill/>
        </p:spPr>
        <p:txBody>
          <a:bodyPr wrap="square" anchor="t">
            <a:spAutoFit/>
          </a:bodyPr>
          <a:lstStyle/>
          <a:p>
            <a:pPr algn="l">
              <a:lnSpc>
                <a:spcPct val="100000"/>
              </a:lnSpc>
            </a:pPr>
            <a:r>
              <a:rPr sz="1500" b="1" i="0">
                <a:solidFill>
                  <a:srgbClr val="2E5C8A"/>
                </a:solidFill>
                <a:latin typeface="Calibri"/>
              </a:rPr>
              <a:t>AE+Context (puternic pe DDoS, PortScan) + Temporal IForest (puternic pe DoS lente) — evidente demonstrabil disjuncte</a:t>
            </a:r>
          </a:p>
        </p:txBody>
      </p:sp>
      <p:sp>
        <p:nvSpPr>
          <p:cNvPr id="8" name="TextBox 7"/>
          <p:cNvSpPr txBox="1"/>
          <p:nvPr/>
        </p:nvSpPr>
        <p:spPr>
          <a:xfrm>
            <a:off x="502920" y="1965960"/>
            <a:ext cx="5394960" cy="2926080"/>
          </a:xfrm>
          <a:prstGeom prst="rect">
            <a:avLst/>
          </a:prstGeom>
          <a:noFill/>
        </p:spPr>
        <p:txBody>
          <a:bodyPr wrap="square">
            <a:spAutoFit/>
          </a:bodyPr>
          <a:lstStyle/>
          <a:p>
            <a:pPr>
              <a:lnSpc>
                <a:spcPct val="108000"/>
              </a:lnSpc>
              <a:spcAft>
                <a:spcPts val="1300"/>
              </a:spcAft>
            </a:pPr>
            <a:r>
              <a:rPr sz="1500" b="1">
                <a:solidFill>
                  <a:srgbClr val="E07A2C"/>
                </a:solidFill>
                <a:latin typeface="Calibri"/>
              </a:rPr>
              <a:t>▸  </a:t>
            </a:r>
            <a:r>
              <a:rPr sz="1500" b="0">
                <a:solidFill>
                  <a:srgbClr val="22272E"/>
                </a:solidFill>
                <a:latin typeface="Calibri"/>
              </a:rPr>
              <a:t>Scorurile brute nu se combină direct (scale diferite) → normalizare pe rang: fiecare scor mapat la percentila sa în distribuția de antrenare benignă</a:t>
            </a:r>
          </a:p>
          <a:p>
            <a:pPr>
              <a:lnSpc>
                <a:spcPct val="108000"/>
              </a:lnSpc>
              <a:spcAft>
                <a:spcPts val="1300"/>
              </a:spcAft>
            </a:pPr>
            <a:r>
              <a:rPr sz="1500" b="1">
                <a:solidFill>
                  <a:srgbClr val="E07A2C"/>
                </a:solidFill>
                <a:latin typeface="Calibri"/>
              </a:rPr>
              <a:t>▸  </a:t>
            </a:r>
            <a:r>
              <a:rPr sz="1500" b="1">
                <a:solidFill>
                  <a:srgbClr val="22272E"/>
                </a:solidFill>
                <a:latin typeface="Calibri"/>
              </a:rPr>
              <a:t>Votare ponderată (soft voting): s = w·s_AE + (1-w)·s_IF</a:t>
            </a:r>
          </a:p>
          <a:p>
            <a:pPr>
              <a:lnSpc>
                <a:spcPct val="108000"/>
              </a:lnSpc>
              <a:spcAft>
                <a:spcPts val="1300"/>
              </a:spcAft>
            </a:pPr>
            <a:r>
              <a:rPr sz="1500" b="1">
                <a:solidFill>
                  <a:srgbClr val="E07A2C"/>
                </a:solidFill>
                <a:latin typeface="Calibri"/>
              </a:rPr>
              <a:t>▸  </a:t>
            </a:r>
            <a:r>
              <a:rPr sz="1500" b="1">
                <a:solidFill>
                  <a:srgbClr val="22272E"/>
                </a:solidFill>
                <a:latin typeface="Calibri"/>
              </a:rPr>
              <a:t>Regula maximului: s = max(s_AE, s_IF) — un combinator de tip OR</a:t>
            </a:r>
          </a:p>
        </p:txBody>
      </p:sp>
      <p:graphicFrame>
        <p:nvGraphicFramePr>
          <p:cNvPr id="9" name="Table 8"/>
          <p:cNvGraphicFramePr>
            <a:graphicFrameLocks noGrp="1"/>
          </p:cNvGraphicFramePr>
          <p:nvPr/>
        </p:nvGraphicFramePr>
        <p:xfrm>
          <a:off x="6080760" y="1874519"/>
          <a:ext cx="5623556" cy="2011680"/>
        </p:xfrm>
        <a:graphic>
          <a:graphicData uri="http://schemas.openxmlformats.org/drawingml/2006/table">
            <a:tbl>
              <a:tblPr firstRow="0" bandRow="0">
                <a:tableStyleId>{5C22544A-7EE6-4342-B048-85BDC9FD1C3A}</a:tableStyleId>
              </a:tblPr>
              <a:tblGrid>
                <a:gridCol w="1460664"/>
                <a:gridCol w="730332"/>
                <a:gridCol w="803365"/>
                <a:gridCol w="839882"/>
                <a:gridCol w="985948"/>
                <a:gridCol w="803365"/>
              </a:tblGrid>
              <a:tr h="502920">
                <a:tc>
                  <a:txBody>
                    <a:bodyPr/>
                    <a:lstStyle/>
                    <a:p>
                      <a:pPr algn="l"/>
                      <a:r>
                        <a:rPr sz="1300" b="1">
                          <a:solidFill>
                            <a:srgbClr val="FFFFFF"/>
                          </a:solidFill>
                        </a:rPr>
                        <a:t>Model</a:t>
                      </a:r>
                    </a:p>
                  </a:txBody>
                  <a:tcPr anchor="ctr">
                    <a:solidFill>
                      <a:srgbClr val="1B2A4A"/>
                    </a:solidFill>
                  </a:tcPr>
                </a:tc>
                <a:tc>
                  <a:txBody>
                    <a:bodyPr/>
                    <a:lstStyle/>
                    <a:p>
                      <a:pPr algn="ctr"/>
                      <a:r>
                        <a:rPr sz="1300" b="1">
                          <a:solidFill>
                            <a:srgbClr val="FFFFFF"/>
                          </a:solidFill>
                        </a:rPr>
                        <a:t>DDoS</a:t>
                      </a:r>
                    </a:p>
                  </a:txBody>
                  <a:tcPr anchor="ctr">
                    <a:solidFill>
                      <a:srgbClr val="1B2A4A"/>
                    </a:solidFill>
                  </a:tcPr>
                </a:tc>
                <a:tc>
                  <a:txBody>
                    <a:bodyPr/>
                    <a:lstStyle/>
                    <a:p>
                      <a:pPr algn="ctr"/>
                      <a:r>
                        <a:rPr sz="1300" b="1">
                          <a:solidFill>
                            <a:srgbClr val="FFFFFF"/>
                          </a:solidFill>
                        </a:rPr>
                        <a:t>PortScan</a:t>
                      </a:r>
                    </a:p>
                  </a:txBody>
                  <a:tcPr anchor="ctr">
                    <a:solidFill>
                      <a:srgbClr val="1B2A4A"/>
                    </a:solidFill>
                  </a:tcPr>
                </a:tc>
                <a:tc>
                  <a:txBody>
                    <a:bodyPr/>
                    <a:lstStyle/>
                    <a:p>
                      <a:pPr algn="ctr"/>
                      <a:r>
                        <a:rPr sz="1300" b="1">
                          <a:solidFill>
                            <a:srgbClr val="FFFFFF"/>
                          </a:solidFill>
                        </a:rPr>
                        <a:t>GoldenEye</a:t>
                      </a:r>
                    </a:p>
                  </a:txBody>
                  <a:tcPr anchor="ctr">
                    <a:solidFill>
                      <a:srgbClr val="1B2A4A"/>
                    </a:solidFill>
                  </a:tcPr>
                </a:tc>
                <a:tc>
                  <a:txBody>
                    <a:bodyPr/>
                    <a:lstStyle/>
                    <a:p>
                      <a:pPr algn="ctr"/>
                      <a:r>
                        <a:rPr sz="1300" b="1">
                          <a:solidFill>
                            <a:srgbClr val="FFFFFF"/>
                          </a:solidFill>
                        </a:rPr>
                        <a:t>Slowhttptest</a:t>
                      </a:r>
                    </a:p>
                  </a:txBody>
                  <a:tcPr anchor="ctr">
                    <a:solidFill>
                      <a:srgbClr val="1B2A4A"/>
                    </a:solidFill>
                  </a:tcPr>
                </a:tc>
                <a:tc>
                  <a:txBody>
                    <a:bodyPr/>
                    <a:lstStyle/>
                    <a:p>
                      <a:pPr algn="ctr"/>
                      <a:r>
                        <a:rPr sz="1300" b="1">
                          <a:solidFill>
                            <a:srgbClr val="FFFFFF"/>
                          </a:solidFill>
                        </a:rPr>
                        <a:t>slowloris</a:t>
                      </a:r>
                    </a:p>
                  </a:txBody>
                  <a:tcPr anchor="ctr">
                    <a:solidFill>
                      <a:srgbClr val="1B2A4A"/>
                    </a:solidFill>
                  </a:tcPr>
                </a:tc>
              </a:tr>
              <a:tr h="502920">
                <a:tc>
                  <a:txBody>
                    <a:bodyPr/>
                    <a:lstStyle/>
                    <a:p>
                      <a:pPr algn="l"/>
                      <a:r>
                        <a:rPr sz="1150">
                          <a:solidFill>
                            <a:srgbClr val="22272E"/>
                          </a:solidFill>
                        </a:rPr>
                        <a:t>AE+Context singur</a:t>
                      </a:r>
                    </a:p>
                  </a:txBody>
                  <a:tcPr anchor="ctr">
                    <a:solidFill>
                      <a:srgbClr val="FFFFFF"/>
                    </a:solidFill>
                  </a:tcPr>
                </a:tc>
                <a:tc>
                  <a:txBody>
                    <a:bodyPr/>
                    <a:lstStyle/>
                    <a:p>
                      <a:pPr algn="ctr"/>
                      <a:r>
                        <a:rPr sz="1150">
                          <a:solidFill>
                            <a:srgbClr val="22272E"/>
                          </a:solidFill>
                        </a:rPr>
                        <a:t>0.882</a:t>
                      </a:r>
                    </a:p>
                  </a:txBody>
                  <a:tcPr anchor="ctr">
                    <a:solidFill>
                      <a:srgbClr val="FFFFFF"/>
                    </a:solidFill>
                  </a:tcPr>
                </a:tc>
                <a:tc>
                  <a:txBody>
                    <a:bodyPr/>
                    <a:lstStyle/>
                    <a:p>
                      <a:pPr algn="ctr"/>
                      <a:r>
                        <a:rPr sz="1150">
                          <a:solidFill>
                            <a:srgbClr val="22272E"/>
                          </a:solidFill>
                        </a:rPr>
                        <a:t>0.924</a:t>
                      </a:r>
                    </a:p>
                  </a:txBody>
                  <a:tcPr anchor="ctr">
                    <a:solidFill>
                      <a:srgbClr val="FFFFFF"/>
                    </a:solidFill>
                  </a:tcPr>
                </a:tc>
                <a:tc>
                  <a:txBody>
                    <a:bodyPr/>
                    <a:lstStyle/>
                    <a:p>
                      <a:pPr algn="ctr"/>
                      <a:r>
                        <a:rPr sz="1150">
                          <a:solidFill>
                            <a:srgbClr val="22272E"/>
                          </a:solidFill>
                        </a:rPr>
                        <a:t>0.292</a:t>
                      </a:r>
                    </a:p>
                  </a:txBody>
                  <a:tcPr anchor="ctr">
                    <a:solidFill>
                      <a:srgbClr val="FFFFFF"/>
                    </a:solidFill>
                  </a:tcPr>
                </a:tc>
                <a:tc>
                  <a:txBody>
                    <a:bodyPr/>
                    <a:lstStyle/>
                    <a:p>
                      <a:pPr algn="ctr"/>
                      <a:r>
                        <a:rPr sz="1150">
                          <a:solidFill>
                            <a:srgbClr val="22272E"/>
                          </a:solidFill>
                        </a:rPr>
                        <a:t>0.013</a:t>
                      </a:r>
                    </a:p>
                  </a:txBody>
                  <a:tcPr anchor="ctr">
                    <a:solidFill>
                      <a:srgbClr val="FFFFFF"/>
                    </a:solidFill>
                  </a:tcPr>
                </a:tc>
                <a:tc>
                  <a:txBody>
                    <a:bodyPr/>
                    <a:lstStyle/>
                    <a:p>
                      <a:pPr algn="ctr"/>
                      <a:r>
                        <a:rPr sz="1150">
                          <a:solidFill>
                            <a:srgbClr val="22272E"/>
                          </a:solidFill>
                        </a:rPr>
                        <a:t>0.025</a:t>
                      </a:r>
                    </a:p>
                  </a:txBody>
                  <a:tcPr anchor="ctr">
                    <a:solidFill>
                      <a:srgbClr val="FFFFFF"/>
                    </a:solidFill>
                  </a:tcPr>
                </a:tc>
              </a:tr>
              <a:tr h="502920">
                <a:tc>
                  <a:txBody>
                    <a:bodyPr/>
                    <a:lstStyle/>
                    <a:p>
                      <a:pPr algn="l"/>
                      <a:r>
                        <a:rPr sz="1150">
                          <a:solidFill>
                            <a:srgbClr val="22272E"/>
                          </a:solidFill>
                        </a:rPr>
                        <a:t>Temporal IForest singur</a:t>
                      </a:r>
                    </a:p>
                  </a:txBody>
                  <a:tcPr anchor="ctr">
                    <a:solidFill>
                      <a:srgbClr val="F4F6F9"/>
                    </a:solidFill>
                  </a:tcPr>
                </a:tc>
                <a:tc>
                  <a:txBody>
                    <a:bodyPr/>
                    <a:lstStyle/>
                    <a:p>
                      <a:pPr algn="ctr"/>
                      <a:r>
                        <a:rPr sz="1150">
                          <a:solidFill>
                            <a:srgbClr val="22272E"/>
                          </a:solidFill>
                        </a:rPr>
                        <a:t>0.956</a:t>
                      </a:r>
                    </a:p>
                  </a:txBody>
                  <a:tcPr anchor="ctr">
                    <a:solidFill>
                      <a:srgbClr val="F4F6F9"/>
                    </a:solidFill>
                  </a:tcPr>
                </a:tc>
                <a:tc>
                  <a:txBody>
                    <a:bodyPr/>
                    <a:lstStyle/>
                    <a:p>
                      <a:pPr algn="ctr"/>
                      <a:r>
                        <a:rPr sz="1150">
                          <a:solidFill>
                            <a:srgbClr val="22272E"/>
                          </a:solidFill>
                        </a:rPr>
                        <a:t>0.123</a:t>
                      </a:r>
                    </a:p>
                  </a:txBody>
                  <a:tcPr anchor="ctr">
                    <a:solidFill>
                      <a:srgbClr val="F4F6F9"/>
                    </a:solidFill>
                  </a:tcPr>
                </a:tc>
                <a:tc>
                  <a:txBody>
                    <a:bodyPr/>
                    <a:lstStyle/>
                    <a:p>
                      <a:pPr algn="ctr"/>
                      <a:r>
                        <a:rPr sz="1150">
                          <a:solidFill>
                            <a:srgbClr val="22272E"/>
                          </a:solidFill>
                        </a:rPr>
                        <a:t>0.611</a:t>
                      </a:r>
                    </a:p>
                  </a:txBody>
                  <a:tcPr anchor="ctr">
                    <a:solidFill>
                      <a:srgbClr val="F4F6F9"/>
                    </a:solidFill>
                  </a:tcPr>
                </a:tc>
                <a:tc>
                  <a:txBody>
                    <a:bodyPr/>
                    <a:lstStyle/>
                    <a:p>
                      <a:pPr algn="ctr"/>
                      <a:r>
                        <a:rPr sz="1150">
                          <a:solidFill>
                            <a:srgbClr val="22272E"/>
                          </a:solidFill>
                        </a:rPr>
                        <a:t>0.578</a:t>
                      </a:r>
                    </a:p>
                  </a:txBody>
                  <a:tcPr anchor="ctr">
                    <a:solidFill>
                      <a:srgbClr val="F4F6F9"/>
                    </a:solidFill>
                  </a:tcPr>
                </a:tc>
                <a:tc>
                  <a:txBody>
                    <a:bodyPr/>
                    <a:lstStyle/>
                    <a:p>
                      <a:pPr algn="ctr"/>
                      <a:r>
                        <a:rPr sz="1150">
                          <a:solidFill>
                            <a:srgbClr val="22272E"/>
                          </a:solidFill>
                        </a:rPr>
                        <a:t>0.560</a:t>
                      </a:r>
                    </a:p>
                  </a:txBody>
                  <a:tcPr anchor="ctr">
                    <a:solidFill>
                      <a:srgbClr val="F4F6F9"/>
                    </a:solidFill>
                  </a:tcPr>
                </a:tc>
              </a:tr>
              <a:tr h="502920">
                <a:tc>
                  <a:txBody>
                    <a:bodyPr/>
                    <a:lstStyle/>
                    <a:p>
                      <a:pPr algn="l"/>
                      <a:r>
                        <a:rPr sz="1150" b="1">
                          <a:solidFill>
                            <a:srgbClr val="22272E"/>
                          </a:solidFill>
                        </a:rPr>
                        <a:t>Votare ponderată (w=0.4)</a:t>
                      </a:r>
                    </a:p>
                  </a:txBody>
                  <a:tcPr anchor="ctr">
                    <a:solidFill>
                      <a:srgbClr val="FCE7D2"/>
                    </a:solidFill>
                  </a:tcPr>
                </a:tc>
                <a:tc>
                  <a:txBody>
                    <a:bodyPr/>
                    <a:lstStyle/>
                    <a:p>
                      <a:pPr algn="ctr"/>
                      <a:r>
                        <a:rPr sz="1150" b="1">
                          <a:solidFill>
                            <a:srgbClr val="22272E"/>
                          </a:solidFill>
                        </a:rPr>
                        <a:t>0.977</a:t>
                      </a:r>
                    </a:p>
                  </a:txBody>
                  <a:tcPr anchor="ctr">
                    <a:solidFill>
                      <a:srgbClr val="FCE7D2"/>
                    </a:solidFill>
                  </a:tcPr>
                </a:tc>
                <a:tc>
                  <a:txBody>
                    <a:bodyPr/>
                    <a:lstStyle/>
                    <a:p>
                      <a:pPr algn="ctr"/>
                      <a:r>
                        <a:rPr sz="1150" b="1">
                          <a:solidFill>
                            <a:srgbClr val="22272E"/>
                          </a:solidFill>
                        </a:rPr>
                        <a:t>0.228</a:t>
                      </a:r>
                    </a:p>
                  </a:txBody>
                  <a:tcPr anchor="ctr">
                    <a:solidFill>
                      <a:srgbClr val="FCE7D2"/>
                    </a:solidFill>
                  </a:tcPr>
                </a:tc>
                <a:tc>
                  <a:txBody>
                    <a:bodyPr/>
                    <a:lstStyle/>
                    <a:p>
                      <a:pPr algn="ctr"/>
                      <a:r>
                        <a:rPr sz="1150" b="1">
                          <a:solidFill>
                            <a:srgbClr val="22272E"/>
                          </a:solidFill>
                        </a:rPr>
                        <a:t>0.801</a:t>
                      </a:r>
                    </a:p>
                  </a:txBody>
                  <a:tcPr anchor="ctr">
                    <a:solidFill>
                      <a:srgbClr val="FCE7D2"/>
                    </a:solidFill>
                  </a:tcPr>
                </a:tc>
                <a:tc>
                  <a:txBody>
                    <a:bodyPr/>
                    <a:lstStyle/>
                    <a:p>
                      <a:pPr algn="ctr"/>
                      <a:r>
                        <a:rPr sz="1150" b="1">
                          <a:solidFill>
                            <a:srgbClr val="22272E"/>
                          </a:solidFill>
                        </a:rPr>
                        <a:t>0.205</a:t>
                      </a:r>
                    </a:p>
                  </a:txBody>
                  <a:tcPr anchor="ctr">
                    <a:solidFill>
                      <a:srgbClr val="FCE7D2"/>
                    </a:solidFill>
                  </a:tcPr>
                </a:tc>
                <a:tc>
                  <a:txBody>
                    <a:bodyPr/>
                    <a:lstStyle/>
                    <a:p>
                      <a:pPr algn="ctr"/>
                      <a:r>
                        <a:rPr sz="1150" b="1">
                          <a:solidFill>
                            <a:srgbClr val="22272E"/>
                          </a:solidFill>
                        </a:rPr>
                        <a:t>0.319</a:t>
                      </a:r>
                    </a:p>
                  </a:txBody>
                  <a:tcPr anchor="ctr">
                    <a:solidFill>
                      <a:srgbClr val="FCE7D2"/>
                    </a:solidFill>
                  </a:tcPr>
                </a:tc>
              </a:tr>
            </a:tbl>
          </a:graphicData>
        </a:graphic>
      </p:graphicFrame>
      <p:sp>
        <p:nvSpPr>
          <p:cNvPr id="10" name="TextBox 9"/>
          <p:cNvSpPr txBox="1"/>
          <p:nvPr/>
        </p:nvSpPr>
        <p:spPr>
          <a:xfrm>
            <a:off x="502920" y="5120640"/>
            <a:ext cx="11155680" cy="1280160"/>
          </a:xfrm>
          <a:prstGeom prst="rect">
            <a:avLst/>
          </a:prstGeom>
          <a:noFill/>
        </p:spPr>
        <p:txBody>
          <a:bodyPr wrap="square" anchor="t">
            <a:spAutoFit/>
          </a:bodyPr>
          <a:lstStyle/>
          <a:p>
            <a:pPr algn="l">
              <a:lnSpc>
                <a:spcPct val="120000"/>
              </a:lnSpc>
            </a:pPr>
            <a:r>
              <a:rPr sz="1400" b="0" i="0">
                <a:solidFill>
                  <a:srgbClr val="22272E"/>
                </a:solidFill>
                <a:latin typeface="Calibri"/>
              </a:rPr>
              <a:t>Votarea ponderată ridică pragul minim de acoperire pe clasă — clasa cea mai slabă (0.205) depășește propriile clase cele mai slabe ale ambelor modele singure (0.013 și 0.123), cu costul unui AP agregat mai mic.</a:t>
            </a:r>
          </a:p>
        </p:txBody>
      </p:sp>
      <p:sp>
        <p:nvSpPr>
          <p:cNvPr id="11" name="TextBox 10"/>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§5.2.3–4 — Construirea Scorului Combinat și Acoperire per Clasă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8686800" cy="320040"/>
          </a:xfrm>
          <a:prstGeom prst="rect">
            <a:avLst/>
          </a:prstGeom>
          <a:noFill/>
        </p:spPr>
        <p:txBody>
          <a:bodyPr wrap="square" anchor="t">
            <a:spAutoFit/>
          </a:bodyPr>
          <a:lstStyle/>
          <a:p>
            <a:pPr algn="l">
              <a:lnSpc>
                <a:spcPct val="100000"/>
              </a:lnSpc>
            </a:pPr>
            <a:r>
              <a:rPr sz="1300" b="1" i="0">
                <a:solidFill>
                  <a:srgbClr val="C9D6E8"/>
                </a:solidFill>
                <a:latin typeface="Calibri"/>
              </a:rPr>
              <a:t>CONCLUZII</a:t>
            </a:r>
          </a:p>
        </p:txBody>
      </p:sp>
      <p:sp>
        <p:nvSpPr>
          <p:cNvPr id="5" name="TextBox 4"/>
          <p:cNvSpPr txBox="1"/>
          <p:nvPr/>
        </p:nvSpPr>
        <p:spPr>
          <a:xfrm>
            <a:off x="457200" y="347472"/>
            <a:ext cx="9875520" cy="658368"/>
          </a:xfrm>
          <a:prstGeom prst="rect">
            <a:avLst/>
          </a:prstGeom>
          <a:noFill/>
        </p:spPr>
        <p:txBody>
          <a:bodyPr wrap="square" anchor="t">
            <a:spAutoFit/>
          </a:bodyPr>
          <a:lstStyle/>
          <a:p>
            <a:pPr algn="l">
              <a:lnSpc>
                <a:spcPct val="100000"/>
              </a:lnSpc>
            </a:pPr>
            <a:r>
              <a:rPr sz="2800" b="1" i="0">
                <a:solidFill>
                  <a:srgbClr val="FFFFFF"/>
                </a:solidFill>
                <a:latin typeface="Calibri"/>
              </a:rPr>
              <a:t>Răspuns la întrebarea de cercetare</a:t>
            </a:r>
          </a:p>
        </p:txBody>
      </p:sp>
      <p:sp>
        <p:nvSpPr>
          <p:cNvPr id="6" name="TextBox 5"/>
          <p:cNvSpPr txBox="1"/>
          <p:nvPr/>
        </p:nvSpPr>
        <p:spPr>
          <a:xfrm>
            <a:off x="11109960" y="365760"/>
            <a:ext cx="914400" cy="365760"/>
          </a:xfrm>
          <a:prstGeom prst="rect">
            <a:avLst/>
          </a:prstGeom>
          <a:noFill/>
        </p:spPr>
        <p:txBody>
          <a:bodyPr wrap="square" anchor="t">
            <a:spAutoFit/>
          </a:bodyPr>
          <a:lstStyle/>
          <a:p>
            <a:pPr algn="r">
              <a:lnSpc>
                <a:spcPct val="100000"/>
              </a:lnSpc>
            </a:pPr>
            <a:r>
              <a:rPr sz="2000" b="1" i="0">
                <a:solidFill>
                  <a:srgbClr val="E07A2C"/>
                </a:solidFill>
                <a:latin typeface="Calibri"/>
              </a:rPr>
              <a:t>20</a:t>
            </a:r>
          </a:p>
        </p:txBody>
      </p:sp>
      <p:sp>
        <p:nvSpPr>
          <p:cNvPr id="7" name="TextBox 6"/>
          <p:cNvSpPr txBox="1"/>
          <p:nvPr/>
        </p:nvSpPr>
        <p:spPr>
          <a:xfrm>
            <a:off x="502920" y="1371600"/>
            <a:ext cx="11155680" cy="640080"/>
          </a:xfrm>
          <a:prstGeom prst="rect">
            <a:avLst/>
          </a:prstGeom>
          <a:noFill/>
        </p:spPr>
        <p:txBody>
          <a:bodyPr wrap="square" anchor="t">
            <a:spAutoFit/>
          </a:bodyPr>
          <a:lstStyle/>
          <a:p>
            <a:pPr algn="l">
              <a:lnSpc>
                <a:spcPct val="125000"/>
              </a:lnSpc>
            </a:pPr>
            <a:r>
              <a:rPr sz="1700" b="1" i="0">
                <a:solidFill>
                  <a:srgbClr val="2E5C8A"/>
                </a:solidFill>
                <a:latin typeface="Calibri"/>
              </a:rPr>
              <a:t>Răspuns afirmativ: aceeași paradigmă produce rezultate diferite pe seturi de date diferite — pentru că presupunerea sa despre normalitate se potrivește sau nu structurii reale a anomaliei căutate.</a:t>
            </a:r>
          </a:p>
        </p:txBody>
      </p:sp>
      <p:sp>
        <p:nvSpPr>
          <p:cNvPr id="8" name="TextBox 7"/>
          <p:cNvSpPr txBox="1"/>
          <p:nvPr/>
        </p:nvSpPr>
        <p:spPr>
          <a:xfrm>
            <a:off x="502920" y="2514600"/>
            <a:ext cx="11155680" cy="2743200"/>
          </a:xfrm>
          <a:prstGeom prst="rect">
            <a:avLst/>
          </a:prstGeom>
          <a:noFill/>
        </p:spPr>
        <p:txBody>
          <a:bodyPr wrap="square">
            <a:spAutoFit/>
          </a:bodyPr>
          <a:lstStyle/>
          <a:p>
            <a:pPr>
              <a:lnSpc>
                <a:spcPct val="108000"/>
              </a:lnSpc>
              <a:spcAft>
                <a:spcPts val="1400"/>
              </a:spcAft>
            </a:pPr>
            <a:r>
              <a:rPr sz="1600" b="1">
                <a:solidFill>
                  <a:srgbClr val="E07A2C"/>
                </a:solidFill>
                <a:latin typeface="Calibri"/>
              </a:rPr>
              <a:t>▸  </a:t>
            </a:r>
            <a:r>
              <a:rPr sz="1600" b="1">
                <a:solidFill>
                  <a:srgbClr val="22272E"/>
                </a:solidFill>
                <a:latin typeface="Calibri"/>
              </a:rPr>
              <a:t>Ipoteza 1 (structura temporală avantajează date secvențiale) se confirmă pe Yahoo A3/A4, dar se inversează pe Setul A și e depășită de caracteristicile de context la CIC-IDS2017</a:t>
            </a:r>
          </a:p>
          <a:p>
            <a:pPr>
              <a:lnSpc>
                <a:spcPct val="108000"/>
              </a:lnSpc>
              <a:spcAft>
                <a:spcPts val="1400"/>
              </a:spcAft>
            </a:pPr>
            <a:r>
              <a:rPr sz="1600" b="1">
                <a:solidFill>
                  <a:srgbClr val="E07A2C"/>
                </a:solidFill>
                <a:latin typeface="Calibri"/>
              </a:rPr>
              <a:t>▸  </a:t>
            </a:r>
            <a:r>
              <a:rPr sz="1600" b="1">
                <a:solidFill>
                  <a:srgbClr val="22272E"/>
                </a:solidFill>
                <a:latin typeface="Calibri"/>
              </a:rPr>
              <a:t>Ipoteza 2 (paradigme complementare, combinate, îmbunătățesc performanța) se confirmă: AE+Context și Temporal IForest exploatează evidente disjuncte, iar votarea ponderată extinde acoperirea</a:t>
            </a:r>
          </a:p>
          <a:p>
            <a:pPr>
              <a:lnSpc>
                <a:spcPct val="108000"/>
              </a:lnSpc>
              <a:spcAft>
                <a:spcPts val="1400"/>
              </a:spcAft>
            </a:pPr>
            <a:r>
              <a:rPr sz="1600" b="1">
                <a:solidFill>
                  <a:srgbClr val="E07A2C"/>
                </a:solidFill>
                <a:latin typeface="Calibri"/>
              </a:rPr>
              <a:t>▸  </a:t>
            </a:r>
            <a:r>
              <a:rPr sz="1600" b="0">
                <a:solidFill>
                  <a:srgbClr val="22272E"/>
                </a:solidFill>
                <a:latin typeface="Calibri"/>
              </a:rPr>
              <a:t>Ambele ipoteze sunt confirmate, dar nuanțate — nu necondiționat</a:t>
            </a:r>
          </a:p>
        </p:txBody>
      </p:sp>
      <p:sp>
        <p:nvSpPr>
          <p:cNvPr id="9" name="Rectangle 8"/>
          <p:cNvSpPr/>
          <p:nvPr/>
        </p:nvSpPr>
        <p:spPr>
          <a:xfrm>
            <a:off x="502920" y="5394960"/>
            <a:ext cx="11201400"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13832"/>
            <a:ext cx="10698480" cy="731520"/>
          </a:xfrm>
          <a:prstGeom prst="rect">
            <a:avLst/>
          </a:prstGeom>
          <a:noFill/>
        </p:spPr>
        <p:txBody>
          <a:bodyPr wrap="square" anchor="t">
            <a:spAutoFit/>
          </a:bodyPr>
          <a:lstStyle/>
          <a:p>
            <a:pPr algn="l">
              <a:lnSpc>
                <a:spcPct val="100000"/>
              </a:lnSpc>
            </a:pPr>
            <a:r>
              <a:rPr sz="1350" b="0" i="1">
                <a:solidFill>
                  <a:srgbClr val="5A6370"/>
                </a:solidFill>
                <a:latin typeface="Calibri"/>
              </a:rPr>
              <a:t>Direcții viitoare: testarea sistematică a celorlalte ipoteze (de ce ferestrele temporale dăunează uneori) și extinderea ansamblului la celelalte seturi de date.</a:t>
            </a:r>
          </a:p>
        </p:txBody>
      </p:sp>
      <p:sp>
        <p:nvSpPr>
          <p:cNvPr id="11" name="TextBox 10"/>
          <p:cNvSpPr txBox="1"/>
          <p:nvPr/>
        </p:nvSpPr>
        <p:spPr>
          <a:xfrm>
            <a:off x="502920" y="6528816"/>
            <a:ext cx="8229600" cy="274320"/>
          </a:xfrm>
          <a:prstGeom prst="rect">
            <a:avLst/>
          </a:prstGeom>
          <a:noFill/>
        </p:spPr>
        <p:txBody>
          <a:bodyPr wrap="square" anchor="t">
            <a:spAutoFit/>
          </a:bodyPr>
          <a:lstStyle/>
          <a:p>
            <a:pPr algn="l">
              <a:lnSpc>
                <a:spcPct val="100000"/>
              </a:lnSpc>
            </a:pPr>
            <a:r>
              <a:rPr sz="1050" b="0" i="1">
                <a:solidFill>
                  <a:srgbClr val="5A6370"/>
                </a:solidFill>
                <a:latin typeface="Calibri"/>
              </a:rPr>
              <a:t>Capitolul 6 — Concluzii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3246120"/>
            <a:ext cx="12191695" cy="38100"/>
          </a:xfrm>
          <a:prstGeom prst="rect">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058400" cy="731520"/>
          </a:xfrm>
          <a:prstGeom prst="rect">
            <a:avLst/>
          </a:prstGeom>
          <a:noFill/>
        </p:spPr>
        <p:txBody>
          <a:bodyPr wrap="square" anchor="t">
            <a:spAutoFit/>
          </a:bodyPr>
          <a:lstStyle/>
          <a:p>
            <a:pPr algn="l">
              <a:lnSpc>
                <a:spcPct val="100000"/>
              </a:lnSpc>
            </a:pPr>
            <a:r>
              <a:rPr sz="4400" b="1" i="0">
                <a:solidFill>
                  <a:srgbClr val="FFFFFF"/>
                </a:solidFill>
                <a:latin typeface="Calibri"/>
              </a:rPr>
              <a:t>Vă mulțumesc!</a:t>
            </a:r>
          </a:p>
        </p:txBody>
      </p:sp>
      <p:sp>
        <p:nvSpPr>
          <p:cNvPr id="4" name="TextBox 3"/>
          <p:cNvSpPr txBox="1"/>
          <p:nvPr/>
        </p:nvSpPr>
        <p:spPr>
          <a:xfrm>
            <a:off x="914400" y="3429000"/>
            <a:ext cx="10058400" cy="548640"/>
          </a:xfrm>
          <a:prstGeom prst="rect">
            <a:avLst/>
          </a:prstGeom>
          <a:noFill/>
        </p:spPr>
        <p:txBody>
          <a:bodyPr wrap="square" anchor="t">
            <a:spAutoFit/>
          </a:bodyPr>
          <a:lstStyle/>
          <a:p>
            <a:pPr algn="l">
              <a:lnSpc>
                <a:spcPct val="100000"/>
              </a:lnSpc>
            </a:pPr>
            <a:r>
              <a:rPr sz="2200" b="0" i="0">
                <a:solidFill>
                  <a:srgbClr val="C9D6E8"/>
                </a:solidFill>
                <a:latin typeface="Calibri"/>
              </a:rPr>
              <a:t>Întrebări?</a:t>
            </a:r>
          </a:p>
        </p:txBody>
      </p:sp>
      <p:sp>
        <p:nvSpPr>
          <p:cNvPr id="5" name="TextBox 4"/>
          <p:cNvSpPr txBox="1"/>
          <p:nvPr/>
        </p:nvSpPr>
        <p:spPr>
          <a:xfrm>
            <a:off x="914400" y="6035040"/>
            <a:ext cx="9144000" cy="457200"/>
          </a:xfrm>
          <a:prstGeom prst="rect">
            <a:avLst/>
          </a:prstGeom>
          <a:noFill/>
        </p:spPr>
        <p:txBody>
          <a:bodyPr wrap="square" anchor="t">
            <a:spAutoFit/>
          </a:bodyPr>
          <a:lstStyle/>
          <a:p>
            <a:pPr algn="l">
              <a:lnSpc>
                <a:spcPct val="100000"/>
              </a:lnSpc>
            </a:pPr>
            <a:r>
              <a:rPr sz="1400" b="0" i="0">
                <a:solidFill>
                  <a:srgbClr val="9AA8C0"/>
                </a:solidFill>
                <a:latin typeface="Calibri"/>
              </a:rPr>
              <a:t>Savin Radu-Andrei — Coordonator: Paul Irofti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